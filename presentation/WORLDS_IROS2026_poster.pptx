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Sparse (ours)</c:v>
                </c:pt>
              </c:strCache>
            </c:strRef>
          </c:tx>
          <c:spPr>
            <a:solidFill>
              <a:srgbClr val="1B9E77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0.136</c:v>
                </c:pt>
                <c:pt idx="1">
                  <c:v>0.101</c:v>
                </c:pt>
                <c:pt idx="2">
                  <c:v>0.071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Dense MLP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0.347</c:v>
                </c:pt>
                <c:pt idx="1">
                  <c:v>0.319</c:v>
                </c:pt>
                <c:pt idx="2">
                  <c:v>0.329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No-op</c:v>
                </c:pt>
              </c:strCache>
            </c:strRef>
          </c:tx>
          <c:spPr>
            <a:solidFill>
              <a:srgbClr val="1F77B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3 objects</c:v>
                </c:pt>
                <c:pt idx="1">
                  <c:v>5 objects</c:v>
                </c:pt>
                <c:pt idx="2">
                  <c:v>8 objects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0.128</c:v>
                </c:pt>
                <c:pt idx="1">
                  <c:v>0.107</c:v>
                </c:pt>
                <c:pt idx="2">
                  <c:v>0.081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  <c:min val="0.0"/>
        </c:scaling>
        <c:delete val="0"/>
        <c:axPos val="l"/>
        <c:majorGridlines>
          <c:spPr>
            <a:ln w="6350">
              <a:solidFill>
                <a:srgbClr val="D9D9D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 L2</c:v>
                </c:pt>
              </c:strCache>
            </c:strRef>
          </c:tx>
          <c:dPt>
            <c:idx val="0"/>
            <c:spPr>
              <a:solidFill>
                <a:srgbClr val="D95F02"/>
              </a:solidFill>
              <a:ln>
                <a:noFill/>
              </a:ln>
            </c:spPr>
          </c:dPt>
          <c:dPt>
            <c:idx val="1"/>
            <c:spPr>
              <a:solidFill>
                <a:srgbClr val="B8B8B4"/>
              </a:solidFill>
              <a:ln>
                <a:noFill/>
              </a:ln>
            </c:spPr>
          </c:dPt>
          <c:dPt>
            <c:idx val="2"/>
            <c:spPr>
              <a:solidFill>
                <a:srgbClr val="B8B8B4"/>
              </a:solidFill>
              <a:ln>
                <a:noFill/>
              </a:ln>
            </c:spPr>
          </c:dPt>
          <c:dPt>
            <c:idx val="3"/>
            <c:spPr>
              <a:solidFill>
                <a:srgbClr val="1B9E77"/>
              </a:solidFill>
              <a:ln>
                <a:noFill/>
              </a:ln>
            </c:spPr>
          </c:dPt>
          <c:dPt>
            <c:idx val="4"/>
            <c:spPr>
              <a:solidFill>
                <a:srgbClr val="1F77B4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Dense</c:v>
                </c:pt>
                <c:pt idx="1">
                  <c:v>+ object-
centric</c:v>
                </c:pt>
                <c:pt idx="2">
                  <c:v>+ residual</c:v>
                </c:pt>
                <c:pt idx="3">
                  <c:v>+ gate
(sparse)</c:v>
                </c:pt>
                <c:pt idx="4">
                  <c:v>No-op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0.367</c:v>
                </c:pt>
                <c:pt idx="1">
                  <c:v>0.239</c:v>
                </c:pt>
                <c:pt idx="2">
                  <c:v>0.221</c:v>
                </c:pt>
                <c:pt idx="3">
                  <c:v>0.116</c:v>
                </c:pt>
                <c:pt idx="4">
                  <c:v>0.128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"/>
          <c:min val="0.0"/>
        </c:scaling>
        <c:delete val="0"/>
        <c:axPos val="l"/>
        <c:majorGridlines>
          <c:spPr>
            <a:ln w="6350">
              <a:solidFill>
                <a:srgbClr val="D9D9D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rate</c:v>
                </c:pt>
              </c:strCache>
            </c:strRef>
          </c:tx>
          <c:dPt>
            <c:idx val="0"/>
            <c:spPr>
              <a:solidFill>
                <a:srgbClr val="B8B8B4"/>
              </a:solidFill>
              <a:ln>
                <a:noFill/>
              </a:ln>
            </c:spPr>
          </c:dPt>
          <c:dPt>
            <c:idx val="1"/>
            <c:spPr>
              <a:solidFill>
                <a:srgbClr val="B8B8B4"/>
              </a:solidFill>
              <a:ln>
                <a:noFill/>
              </a:ln>
            </c:spPr>
          </c:dPt>
          <c:dPt>
            <c:idx val="2"/>
            <c:spPr>
              <a:solidFill>
                <a:srgbClr val="1B9E77"/>
              </a:solidFill>
              <a:ln>
                <a:noFill/>
              </a:ln>
            </c:spPr>
          </c:dPt>
          <c:dPt>
            <c:idx val="3"/>
            <c:spPr>
              <a:solidFill>
                <a:srgbClr val="1F77B4"/>
              </a:solidFill>
              <a:ln>
                <a:noFill/>
              </a:ln>
            </c:spPr>
          </c:dPt>
          <c:dPt>
            <c:idx val="4"/>
            <c:spPr>
              <a:solidFill>
                <a:srgbClr val="D95F02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Oracle simulator</c:v>
                </c:pt>
                <c:pt idx="1">
                  <c:v>Scripted controller</c:v>
                </c:pt>
                <c:pt idx="2">
                  <c:v>Sparse (contact feats)</c:v>
                </c:pt>
                <c:pt idx="3">
                  <c:v>Random actions</c:v>
                </c:pt>
                <c:pt idx="4">
                  <c:v>Dense (diverse data)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0.95</c:v>
                </c:pt>
                <c:pt idx="2">
                  <c:v>0.23</c:v>
                </c:pt>
                <c:pt idx="3">
                  <c:v>0.15</c:v>
                </c:pt>
                <c:pt idx="4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1C1C1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6"/>
            </a:solidFill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 val="0"/>
        <c:axPos val="b"/>
        <c:majorGridlines>
          <c:spPr>
            <a:ln w="6350">
              <a:solidFill>
                <a:srgbClr val="D9D9D6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6E6E7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1C1C1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image" Target="../media/image2.png"/><Relationship Id="rId5" Type="http://schemas.openxmlformats.org/officeDocument/2006/relationships/chart" Target="../charts/chart2.xml"/><Relationship Id="rId6" Type="http://schemas.openxmlformats.org/officeDocument/2006/relationships/image" Target="../media/image3.png"/><Relationship Id="rId7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2194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B9E77"/>
                </a:solidFill>
                <a:latin typeface="Calibri"/>
              </a:rPr>
              <a:t>WORLDS WORKSHOP  ·  IEEE/RSJ IROS 2026  ·  PITTSBURGH  ·  SPOTLIGHT 1, PAPER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4688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0" b="1" i="0">
                <a:solidFill>
                  <a:srgbClr val="1C1C1E"/>
                </a:solidFill>
                <a:latin typeface="Calibri"/>
              </a:rPr>
              <a:t>Modeling What Changes</a:t>
            </a:r>
          </a:p>
          <a:p>
            <a:pPr algn="l">
              <a:spcAft>
                <a:spcPts val="200"/>
              </a:spcAft>
            </a:pPr>
            <a:r>
              <a:rPr sz="4000" b="0" i="0">
                <a:solidFill>
                  <a:srgbClr val="6E6E73"/>
                </a:solidFill>
                <a:latin typeface="Calibri"/>
              </a:rPr>
              <a:t>Sparse, Residual World Models for Object-Centric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2468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C1C1E"/>
                </a:solidFill>
                <a:latin typeface="Calibri"/>
              </a:rPr>
              <a:t>Param Thakkar</a:t>
            </a:r>
            <a:r>
              <a:rPr sz="2200" b="0" i="0">
                <a:solidFill>
                  <a:srgbClr val="6E6E73"/>
                </a:solidFill>
                <a:latin typeface="Calibri"/>
              </a:rPr>
              <a:t>  Veermata Jijabai Technological Institute      </a:t>
            </a:r>
            <a:r>
              <a:rPr sz="2200" b="1" i="0">
                <a:solidFill>
                  <a:srgbClr val="1C1C1E"/>
                </a:solidFill>
                <a:latin typeface="Calibri"/>
              </a:rPr>
              <a:t>Parsika Paresh Shah</a:t>
            </a:r>
            <a:r>
              <a:rPr sz="2200" b="0" i="0">
                <a:solidFill>
                  <a:srgbClr val="6E6E73"/>
                </a:solidFill>
                <a:latin typeface="Calibri"/>
              </a:rPr>
              <a:t>  Arizona State University      </a:t>
            </a:r>
            <a:r>
              <a:rPr sz="2200" b="1" i="0">
                <a:solidFill>
                  <a:srgbClr val="1C1C1E"/>
                </a:solidFill>
                <a:latin typeface="Calibri"/>
              </a:rPr>
              <a:t>Manisha Sushant Gote</a:t>
            </a:r>
            <a:r>
              <a:rPr sz="2200" b="0" i="0">
                <a:solidFill>
                  <a:srgbClr val="6E6E73"/>
                </a:solidFill>
                <a:latin typeface="Calibri"/>
              </a:rPr>
              <a:t>  ZuiGO Private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334720" y="640080"/>
            <a:ext cx="5852160" cy="3108960"/>
          </a:xfrm>
          <a:prstGeom prst="roundRect">
            <a:avLst>
              <a:gd name="adj" fmla="val 8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rep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0" y="914400"/>
            <a:ext cx="256032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97960" y="914400"/>
            <a:ext cx="26517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C1C1E"/>
                </a:solidFill>
                <a:latin typeface="Calibri"/>
              </a:rPr>
              <a:t>Code, data, checkpoints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6E6E73"/>
                </a:solidFill>
                <a:latin typeface="Calibri"/>
              </a:rPr>
              <a:t>and a live in-browser demo running the real models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github.com/ParamThakkar123/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sparse_world_models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1455360" cy="731520"/>
          </a:xfrm>
          <a:prstGeom prst="roundRect">
            <a:avLst>
              <a:gd name="adj" fmla="val 30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31455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C1C1E"/>
                </a:solidFill>
                <a:latin typeface="Calibri"/>
              </a:rPr>
              <a:t>A push moves one object; the rest of the scene is identical.  </a:t>
            </a:r>
            <a:r>
              <a:rPr sz="2400" b="0" i="0">
                <a:solidFill>
                  <a:srgbClr val="1C1C1E"/>
                </a:solidFill>
                <a:latin typeface="Calibri"/>
              </a:rPr>
              <a:t>A per-object gate that copies unchanged objects exactly stops a world model from corrupting the static scene, at a tenth of the parameters.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89204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87375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Scenes are sparse in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3200400" cy="3200400"/>
          </a:xfrm>
          <a:prstGeom prst="roundRect">
            <a:avLst>
              <a:gd name="adj" fmla="val 4000"/>
            </a:avLst>
          </a:prstGeom>
          <a:solidFill>
            <a:srgbClr val="F4F4F1"/>
          </a:solidFill>
          <a:ln w="9525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15568" y="6176772"/>
            <a:ext cx="368046" cy="368046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07792" y="6272784"/>
            <a:ext cx="368046" cy="368046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371600" y="7968996"/>
            <a:ext cx="368046" cy="368046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035808" y="8001000"/>
            <a:ext cx="368046" cy="368046"/>
          </a:xfrm>
          <a:prstGeom prst="rect">
            <a:avLst/>
          </a:prstGeom>
          <a:solidFill>
            <a:srgbClr val="B8B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011680" y="7232904"/>
            <a:ext cx="368046" cy="368046"/>
          </a:xfrm>
          <a:prstGeom prst="rect">
            <a:avLst/>
          </a:prstGeom>
          <a:noFill/>
          <a:ln w="15875">
            <a:solidFill>
              <a:srgbClr val="6E6E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523744" y="6912864"/>
            <a:ext cx="368046" cy="368046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 flipV="1">
            <a:off x="2427732" y="7232904"/>
            <a:ext cx="96012" cy="112013"/>
          </a:xfrm>
          <a:prstGeom prst="line">
            <a:avLst/>
          </a:prstGeom>
          <a:ln w="25400">
            <a:solidFill>
              <a:srgbClr val="1B9E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563624" y="7584948"/>
            <a:ext cx="224028" cy="224028"/>
          </a:xfrm>
          <a:prstGeom prst="ellipse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 flipV="1">
            <a:off x="1787652" y="7536942"/>
            <a:ext cx="192024" cy="144018"/>
          </a:xfrm>
          <a:prstGeom prst="line">
            <a:avLst/>
          </a:prstGeom>
          <a:ln w="1905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51960" y="5852160"/>
            <a:ext cx="39319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C1C1E"/>
                </a:solidFill>
                <a:latin typeface="Calibri"/>
              </a:rPr>
              <a:t>One push. One object moves.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6E6E73"/>
                </a:solidFill>
                <a:latin typeface="Calibri"/>
              </a:rPr>
              <a:t>Every other object is exactly where it was.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C1C1E"/>
                </a:solidFill>
                <a:latin typeface="Calibri"/>
              </a:rPr>
              <a:t>Dense world models still regress </a:t>
            </a:r>
            <a:r>
              <a:rPr sz="1800" b="0" i="1">
                <a:solidFill>
                  <a:srgbClr val="1C1C1E"/>
                </a:solidFill>
                <a:latin typeface="Calibri"/>
              </a:rPr>
              <a:t>every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 pose, every step.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9235440"/>
            <a:ext cx="7452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Capacity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is spent re-producing the static majority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D95F02"/>
                </a:solidFill>
                <a:latin typeface="Calibri"/>
              </a:rPr>
              <a:t>Error injection: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a regressor perturbs objects it should copy; in rollout the error piles up on objects that never moved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No handle on “what”: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no explicit belief about which objects will change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1133856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113385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1132027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Gate what changes, copy the rest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7460" y="12207240"/>
            <a:ext cx="3840480" cy="960120"/>
          </a:xfrm>
          <a:prstGeom prst="roundRect">
            <a:avLst>
              <a:gd name="adj" fmla="val 18000"/>
            </a:avLst>
          </a:prstGeom>
          <a:solidFill>
            <a:srgbClr val="F4F4F1"/>
          </a:solidFill>
          <a:ln w="1905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537460" y="12207240"/>
            <a:ext cx="38404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C1C1E"/>
                </a:solidFill>
                <a:latin typeface="Calibri"/>
              </a:rPr>
              <a:t>per-object features</a:t>
            </a:r>
          </a:p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φᵢ(sₜ, aₜ): pose, velocity, goal, pusher, 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3807440"/>
            <a:ext cx="3291840" cy="96012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9050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1380744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B9E77"/>
                </a:solidFill>
                <a:latin typeface="Calibri"/>
              </a:rPr>
              <a:t>gate net</a:t>
            </a:r>
          </a:p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gᵢ ∈ {0, 1}, straight-through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13807440"/>
            <a:ext cx="3291840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00600" y="13807440"/>
            <a:ext cx="32918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C1C1E"/>
                </a:solidFill>
                <a:latin typeface="Calibri"/>
              </a:rPr>
              <a:t>delta head</a:t>
            </a:r>
          </a:p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Δᵢ ∈ ℝ³ pose residual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468880" y="13167360"/>
            <a:ext cx="1623060" cy="640080"/>
          </a:xfrm>
          <a:prstGeom prst="line">
            <a:avLst/>
          </a:prstGeom>
          <a:ln w="2540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23460" y="13167360"/>
            <a:ext cx="1623060" cy="640080"/>
          </a:xfrm>
          <a:prstGeom prst="line">
            <a:avLst/>
          </a:prstGeom>
          <a:ln w="2540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4137660" y="152704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C1C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37660" y="152704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C1C1E"/>
                </a:solidFill>
                <a:latin typeface="Calibri"/>
              </a:rPr>
              <a:t>×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14767560"/>
            <a:ext cx="1714500" cy="640080"/>
          </a:xfrm>
          <a:prstGeom prst="line">
            <a:avLst/>
          </a:prstGeom>
          <a:ln w="2540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732020" y="14767560"/>
            <a:ext cx="1714500" cy="640080"/>
          </a:xfrm>
          <a:prstGeom prst="line">
            <a:avLst/>
          </a:prstGeom>
          <a:ln w="2540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457700" y="15910560"/>
            <a:ext cx="0" cy="457200"/>
          </a:xfrm>
          <a:prstGeom prst="line">
            <a:avLst/>
          </a:prstGeom>
          <a:ln w="25400">
            <a:solidFill>
              <a:srgbClr val="1C1C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897380" y="16367760"/>
            <a:ext cx="5120640" cy="960120"/>
          </a:xfrm>
          <a:prstGeom prst="roundRect">
            <a:avLst>
              <a:gd name="adj" fmla="val 18000"/>
            </a:avLst>
          </a:prstGeom>
          <a:solidFill>
            <a:srgbClr val="DDF1EA"/>
          </a:solidFill>
          <a:ln w="19050">
            <a:solidFill>
              <a:srgbClr val="1B9E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897380" y="16367760"/>
            <a:ext cx="5120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1C1C1E"/>
                </a:solidFill>
                <a:latin typeface="Calibri"/>
              </a:rPr>
              <a:t>p̂ᵢᵗ⁺¹ = pᵢᵗ + gᵢ · Δᵢ</a:t>
            </a:r>
          </a:p>
          <a:p>
            <a:pPr algn="ctr"/>
            <a:r>
              <a:rPr sz="1400" b="0" i="0">
                <a:solidFill>
                  <a:srgbClr val="6E6E73"/>
                </a:solidFill>
                <a:latin typeface="Calibri"/>
              </a:rPr>
              <a:t>masked residual added to the current pose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17419320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B9E77"/>
                </a:solidFill>
                <a:latin typeface="Calibri"/>
              </a:rPr>
              <a:t>gate off  ⇒  object copied verbatim, exactly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17830800"/>
            <a:ext cx="7452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6E6E73"/>
                </a:solidFill>
                <a:latin typeface="Calibri"/>
              </a:rPr>
              <a:t>shared weights, applied to every object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18333720"/>
            <a:ext cx="7452360" cy="868680"/>
          </a:xfrm>
          <a:prstGeom prst="roundRect">
            <a:avLst>
              <a:gd name="adj" fmla="val 15000"/>
            </a:avLst>
          </a:prstGeom>
          <a:solidFill>
            <a:srgbClr val="F4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1520" y="18333720"/>
            <a:ext cx="7452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 i="0">
                <a:solidFill>
                  <a:srgbClr val="1B9E77"/>
                </a:solidFill>
                <a:latin typeface="Calibri"/>
              </a:rPr>
              <a:t>ℒ = BCE(g, m*)</a:t>
            </a:r>
            <a:r>
              <a:rPr sz="2100" b="0" i="0">
                <a:solidFill>
                  <a:srgbClr val="1C1C1E"/>
                </a:solidFill>
                <a:latin typeface="Calibri"/>
              </a:rPr>
              <a:t>  +  λΔ · m* · ‖Δ − Δ*‖²  +  λs · 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19385280"/>
            <a:ext cx="7452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Hard at inference: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un-gated objects get exactly zero update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Count-agnostic: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shared heads, nothing sized to N; train on 3 objects, run on 8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Tiny: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2-layer width-128 heads, under 0.1M parameters</a:t>
            </a:r>
          </a:p>
        </p:txBody>
      </p:sp>
      <p:sp>
        <p:nvSpPr>
          <p:cNvPr id="48" name="Oval 47"/>
          <p:cNvSpPr/>
          <p:nvPr/>
        </p:nvSpPr>
        <p:spPr>
          <a:xfrm>
            <a:off x="8732520" y="489204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73252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87375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Controlled tabletop pushing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760720"/>
            <a:ext cx="7452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MuJoCo tabletop,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N ∈ {3, 5, 8} boxes, scripted pusher; structured state, not pixels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Baselines: </a:t>
            </a:r>
            <a:r>
              <a:rPr sz="1800" b="1" i="0">
                <a:solidFill>
                  <a:srgbClr val="D95F02"/>
                </a:solidFill>
                <a:latin typeface="Calibri"/>
              </a:rPr>
              <a:t>Dense MLP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 regresses all poses; </a:t>
            </a:r>
            <a:r>
              <a:rPr sz="1800" b="1" i="0">
                <a:solidFill>
                  <a:srgbClr val="1F77B4"/>
                </a:solidFill>
                <a:latin typeface="Calibri"/>
              </a:rPr>
              <a:t>No-op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 predicts no change, the floor to beat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Metric: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per-object pose L2, split into changed vs. unchanged objects; 3 seeds</a:t>
            </a:r>
          </a:p>
        </p:txBody>
      </p:sp>
      <p:sp>
        <p:nvSpPr>
          <p:cNvPr id="52" name="Oval 51"/>
          <p:cNvSpPr/>
          <p:nvPr/>
        </p:nvSpPr>
        <p:spPr>
          <a:xfrm>
            <a:off x="8732520" y="809244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732520" y="80924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807415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Lower error, a tenth of the parameters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8732520" y="8961120"/>
          <a:ext cx="74523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8732520" y="12893040"/>
            <a:ext cx="7452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Calibri"/>
              </a:rPr>
              <a:t>Overall per-object pose L2, held-out, lower is better (Table I).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13395960"/>
            <a:ext cx="2484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9E77"/>
                </a:solidFill>
                <a:latin typeface="Calibri"/>
              </a:rPr>
              <a:t>2.5–4.6×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14109192"/>
            <a:ext cx="2484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lower L2 than dense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16640" y="13395960"/>
            <a:ext cx="2484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1B9E77"/>
                </a:solidFill>
                <a:latin typeface="Calibri"/>
              </a:rPr>
              <a:t>8.6–11.1×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16640" y="14109192"/>
            <a:ext cx="2484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fewer parameters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00760" y="13395960"/>
            <a:ext cx="2484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F1 0.80–0.87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00760" y="14109192"/>
            <a:ext cx="2484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Calibri"/>
              </a:rPr>
              <a:t>change detection; dense is degenerate</a:t>
            </a:r>
          </a:p>
        </p:txBody>
      </p:sp>
      <p:pic>
        <p:nvPicPr>
          <p:cNvPr id="63" name="Picture 62" descr="qualitative.png"/>
          <p:cNvPicPr>
            <a:picLocks noChangeAspect="1"/>
          </p:cNvPicPr>
          <p:nvPr/>
        </p:nvPicPr>
        <p:blipFill>
          <a:blip r:embed="rId4"/>
          <a:srcRect t="5500"/>
          <a:stretch>
            <a:fillRect/>
          </a:stretch>
        </p:blipFill>
        <p:spPr>
          <a:xfrm>
            <a:off x="8732520" y="14996160"/>
            <a:ext cx="7452360" cy="489061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732520" y="19932491"/>
            <a:ext cx="7452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1C1E"/>
                </a:solidFill>
                <a:latin typeface="Calibri"/>
              </a:rPr>
              <a:t>Held-out scenes. </a:t>
            </a:r>
            <a:r>
              <a:rPr sz="1500" b="1" i="0">
                <a:solidFill>
                  <a:srgbClr val="1B9E77"/>
                </a:solidFill>
                <a:latin typeface="Calibri"/>
              </a:rPr>
              <a:t>Sparse moves only the pushed object; </a:t>
            </a:r>
            <a:r>
              <a:rPr sz="1500" b="1" i="0">
                <a:solidFill>
                  <a:srgbClr val="D95F02"/>
                </a:solidFill>
                <a:latin typeface="Calibri"/>
              </a:rPr>
              <a:t>dense hallucinates motion on all three.</a:t>
            </a:r>
          </a:p>
        </p:txBody>
      </p:sp>
      <p:sp>
        <p:nvSpPr>
          <p:cNvPr id="65" name="Oval 64"/>
          <p:cNvSpPr/>
          <p:nvPr/>
        </p:nvSpPr>
        <p:spPr>
          <a:xfrm>
            <a:off x="16733520" y="489204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1673352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510760" y="487375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Where the win comes from</a:t>
            </a:r>
          </a:p>
        </p:txBody>
      </p:sp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16733520" y="5760720"/>
          <a:ext cx="7452360" cy="356616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16733520" y="9326880"/>
            <a:ext cx="7452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Calibri"/>
              </a:rPr>
              <a:t>Capacity-matched ladder, one ingredient per rung (Table II, 3 objects).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733520" y="9784080"/>
            <a:ext cx="7452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C1C1E"/>
                </a:solidFill>
                <a:latin typeface="Calibri"/>
              </a:rPr>
              <a:t>Unchanged-object L2: 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0.211 → 0.111 → 0.086 → </a:t>
            </a:r>
            <a:r>
              <a:rPr sz="1800" b="1" i="0">
                <a:solidFill>
                  <a:srgbClr val="1B9E77"/>
                </a:solidFill>
                <a:latin typeface="Calibri"/>
              </a:rPr>
              <a:t>0.001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6E6E73"/>
                </a:solidFill>
                <a:latin typeface="Calibri"/>
              </a:rPr>
              <a:t>The gate is the largest single step, and the only one below no-op.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733520" y="10972800"/>
            <a:ext cx="7452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C1C1E"/>
                </a:solidFill>
                <a:latin typeface="Calibri"/>
              </a:rPr>
              <a:t>Changed-object L2 with a perfect (oracle) gate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733520" y="11475720"/>
            <a:ext cx="1192377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 i="0">
                <a:solidFill>
                  <a:srgbClr val="6E6E73"/>
                </a:solidFill>
                <a:latin typeface="Calibri"/>
              </a:rPr>
              <a:t>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925897" y="11475720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1B9E77"/>
                </a:solidFill>
                <a:latin typeface="Calibri"/>
              </a:rPr>
              <a:t>predicted gate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012557" y="11475720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6E6E73"/>
                </a:solidFill>
                <a:latin typeface="Calibri"/>
              </a:rPr>
              <a:t>oracle gate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099217" y="11475720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1F77B4"/>
                </a:solidFill>
                <a:latin typeface="Calibri"/>
              </a:rPr>
              <a:t>no-op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6733520" y="11896344"/>
            <a:ext cx="7452357" cy="0"/>
          </a:xfrm>
          <a:prstGeom prst="line">
            <a:avLst/>
          </a:prstGeom>
          <a:ln w="12700">
            <a:solidFill>
              <a:srgbClr val="1C1C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6733520" y="11896344"/>
            <a:ext cx="1192377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 i="0">
                <a:solidFill>
                  <a:srgbClr val="1C1C1E"/>
                </a:solidFill>
                <a:latin typeface="Calibri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925897" y="11896344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0.312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012557" y="11896344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0.314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99217" y="11896344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0.348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6733520" y="12316968"/>
            <a:ext cx="7452357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6733520" y="12316968"/>
            <a:ext cx="1192377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 i="0">
                <a:solidFill>
                  <a:srgbClr val="1C1C1E"/>
                </a:solidFill>
                <a:latin typeface="Calibri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925897" y="12316968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012557" y="12316968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0.432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99217" y="12316968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0.446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6733520" y="12737592"/>
            <a:ext cx="7452357" cy="0"/>
          </a:xfrm>
          <a:prstGeom prst="line">
            <a:avLst/>
          </a:prstGeom>
          <a:ln w="635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6733520" y="12737592"/>
            <a:ext cx="1192377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700" b="0" i="0">
                <a:solidFill>
                  <a:srgbClr val="1C1C1E"/>
                </a:solidFill>
                <a:latin typeface="Calibri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925897" y="12737592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0.466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012557" y="12737592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099217" y="12737592"/>
            <a:ext cx="208666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0" i="0">
                <a:solidFill>
                  <a:srgbClr val="1C1C1E"/>
                </a:solidFill>
                <a:latin typeface="Calibri"/>
              </a:rPr>
              <a:t>0.470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6733520" y="13158216"/>
            <a:ext cx="7452357" cy="0"/>
          </a:xfrm>
          <a:prstGeom prst="line">
            <a:avLst/>
          </a:prstGeom>
          <a:ln w="12700">
            <a:solidFill>
              <a:srgbClr val="D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6733520" y="13341096"/>
            <a:ext cx="7452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C1C1E"/>
                </a:solidFill>
                <a:latin typeface="Calibri"/>
              </a:rPr>
              <a:t>A perfect gate barely helps.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The win is detecting what changed and not corrupting the rest. On the movers themselves the model is at no-op quality: delta regression is the bottleneck.</a:t>
            </a:r>
          </a:p>
        </p:txBody>
      </p:sp>
      <p:sp>
        <p:nvSpPr>
          <p:cNvPr id="93" name="Oval 92"/>
          <p:cNvSpPr/>
          <p:nvPr/>
        </p:nvSpPr>
        <p:spPr>
          <a:xfrm>
            <a:off x="16733520" y="14666976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6733520" y="146669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510760" y="14648688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A world model: rollout, transfer, data</a:t>
            </a:r>
          </a:p>
        </p:txBody>
      </p:sp>
      <p:pic>
        <p:nvPicPr>
          <p:cNvPr id="96" name="Picture 95" descr="worldmo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33520" y="15535656"/>
            <a:ext cx="7452360" cy="1916321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6733520" y="17589137"/>
            <a:ext cx="7452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(a) Rollout: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3.4–6.4× less 20-step error than dense, still above no-op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(b) Transfer: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one checkpoint, any N; 99.4% of F1 kept off-count. Dense cannot run off-count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C1C1E"/>
                </a:solidFill>
                <a:latin typeface="Calibri"/>
              </a:rPr>
              <a:t>(c) Data: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~90% of full-data F1 from 25% of the data</a:t>
            </a:r>
          </a:p>
        </p:txBody>
      </p:sp>
      <p:sp>
        <p:nvSpPr>
          <p:cNvPr id="98" name="Oval 97"/>
          <p:cNvSpPr/>
          <p:nvPr/>
        </p:nvSpPr>
        <p:spPr>
          <a:xfrm>
            <a:off x="24734520" y="489204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24734520" y="4892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511760" y="487375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Planning: beats dense, not yet random</a:t>
            </a:r>
          </a:p>
        </p:txBody>
      </p:sp>
      <p:graphicFrame>
        <p:nvGraphicFramePr>
          <p:cNvPr id="101" name="Chart 100"/>
          <p:cNvGraphicFramePr>
            <a:graphicFrameLocks noGrp="1"/>
          </p:cNvGraphicFramePr>
          <p:nvPr/>
        </p:nvGraphicFramePr>
        <p:xfrm>
          <a:off x="24734520" y="5760720"/>
          <a:ext cx="7452360" cy="393192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02" name="TextBox 101"/>
          <p:cNvSpPr txBox="1"/>
          <p:nvPr/>
        </p:nvSpPr>
        <p:spPr>
          <a:xfrm>
            <a:off x="24734520" y="9692640"/>
            <a:ext cx="7452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Calibri"/>
              </a:rPr>
              <a:t>Push-to-goal success, same CEM planner, only the model swapped; 3 seeds × 20 episodes (Table IV).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4734520" y="10332720"/>
            <a:ext cx="74523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D95F02"/>
                </a:solidFill>
                <a:latin typeface="Calibri"/>
              </a:rPr>
              <a:t>Round 1: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both learned models score 0.00; the planner queries off-distribution states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700" b="1" i="0">
                <a:solidFill>
                  <a:srgbClr val="1B9E77"/>
                </a:solidFill>
                <a:latin typeface="Calibri"/>
              </a:rPr>
              <a:t>Round 2: </a:t>
            </a:r>
            <a:r>
              <a:rPr sz="1700" b="0" i="0">
                <a:solidFill>
                  <a:srgbClr val="1C1C1E"/>
                </a:solidFill>
                <a:latin typeface="Calibri"/>
              </a:rPr>
              <a:t>contact-aware features + diverse data: sparse 0.23 ± 0.06, dense 0.00 at every seed. Margin over random (0.15) is not significant</a:t>
            </a:r>
          </a:p>
        </p:txBody>
      </p:sp>
      <p:sp>
        <p:nvSpPr>
          <p:cNvPr id="104" name="Oval 103"/>
          <p:cNvSpPr/>
          <p:nvPr/>
        </p:nvSpPr>
        <p:spPr>
          <a:xfrm>
            <a:off x="24734520" y="1216152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24734520" y="121615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5511760" y="1214323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What it is, and is not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4734520" y="13030200"/>
            <a:ext cx="3589020" cy="3017520"/>
          </a:xfrm>
          <a:prstGeom prst="roundRect">
            <a:avLst>
              <a:gd name="adj" fmla="val 6000"/>
            </a:avLst>
          </a:prstGeom>
          <a:solidFill>
            <a:srgbClr val="DD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ounded Rectangle 107"/>
          <p:cNvSpPr/>
          <p:nvPr/>
        </p:nvSpPr>
        <p:spPr>
          <a:xfrm>
            <a:off x="28597860" y="13030200"/>
            <a:ext cx="3589020" cy="3017520"/>
          </a:xfrm>
          <a:prstGeom prst="roundRect">
            <a:avLst>
              <a:gd name="adj" fmla="val 6000"/>
            </a:avLst>
          </a:prstGeom>
          <a:solidFill>
            <a:srgbClr val="FB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24963120" y="13258800"/>
            <a:ext cx="31318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B9E77"/>
                </a:solidFill>
                <a:latin typeface="Calibri"/>
              </a:rPr>
              <a:t>IT IS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a change detector that avoids error injection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C1C1E"/>
                </a:solidFill>
                <a:latin typeface="Calibri"/>
              </a:rPr>
              <a:t>far better than dense one-step, in rollout and in planning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C1C1E"/>
                </a:solidFill>
                <a:latin typeface="Calibri"/>
              </a:rPr>
              <a:t>count-invariant, with an inspectable mask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8826460" y="13258800"/>
            <a:ext cx="31318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D95F02"/>
                </a:solidFill>
                <a:latin typeface="Calibri"/>
              </a:rPr>
              <a:t>IT IS NOT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1C1C1E"/>
                </a:solidFill>
                <a:latin typeface="Calibri"/>
              </a:rPr>
              <a:t>an accurate predictor of the movers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C1C1E"/>
                </a:solidFill>
                <a:latin typeface="Calibri"/>
              </a:rPr>
              <a:t>better than no-op in rollout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C1C1E"/>
                </a:solidFill>
                <a:latin typeface="Calibri"/>
              </a:rPr>
              <a:t>significantly better than random at planning, or faster in wall-clock</a:t>
            </a:r>
          </a:p>
        </p:txBody>
      </p:sp>
      <p:sp>
        <p:nvSpPr>
          <p:cNvPr id="111" name="Oval 110"/>
          <p:cNvSpPr/>
          <p:nvPr/>
        </p:nvSpPr>
        <p:spPr>
          <a:xfrm>
            <a:off x="24734520" y="16367760"/>
            <a:ext cx="566928" cy="566928"/>
          </a:xfrm>
          <a:prstGeom prst="ellipse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24734520" y="163677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511760" y="16349472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1C1E"/>
                </a:solidFill>
                <a:latin typeface="Calibri"/>
              </a:rPr>
              <a:t>Takeaways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734520" y="17236440"/>
            <a:ext cx="7452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Model what changes: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a gate + masked residual is a one-line bias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Decompose the metric: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always report no-op and the changed / unchanged split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9E77"/>
                </a:solidFill>
                <a:latin typeface="Calibri"/>
              </a:rPr>
              <a:t>–  </a:t>
            </a:r>
            <a:r>
              <a:rPr sz="1800" b="1" i="0">
                <a:solidFill>
                  <a:srgbClr val="1C1C1E"/>
                </a:solidFill>
                <a:latin typeface="Calibri"/>
              </a:rPr>
              <a:t>The delta head is the lever: </a:t>
            </a:r>
            <a:r>
              <a:rPr sz="1800" b="0" i="0">
                <a:solidFill>
                  <a:srgbClr val="1C1C1E"/>
                </a:solidFill>
                <a:latin typeface="Calibri"/>
              </a:rPr>
              <a:t>detection is solved, contact-delta regression is not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