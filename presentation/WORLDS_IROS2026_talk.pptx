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Sparse (ours)</c:v>
                </c:pt>
              </c:strCache>
            </c:strRef>
          </c:tx>
          <c:spPr>
            <a:solidFill>
              <a:srgbClr val="1B9E7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0.136</c:v>
                </c:pt>
                <c:pt idx="1">
                  <c:v>0.101</c:v>
                </c:pt>
                <c:pt idx="2">
                  <c:v>0.071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 MLP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0.347</c:v>
                </c:pt>
                <c:pt idx="1">
                  <c:v>0.319</c:v>
                </c:pt>
                <c:pt idx="2">
                  <c:v>0.329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No-op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0.128</c:v>
                </c:pt>
                <c:pt idx="1">
                  <c:v>0.107</c:v>
                </c:pt>
                <c:pt idx="2">
                  <c:v>0.081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2"/>
          <c:min val="0.0"/>
        </c:scaling>
        <c:delete val="0"/>
        <c:axPos val="l"/>
        <c:majorGridlines>
          <c:spPr>
            <a:ln w="6350">
              <a:solidFill>
                <a:srgbClr val="D9D9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 L2</c:v>
                </c:pt>
              </c:strCache>
            </c:strRef>
          </c:tx>
          <c:dPt>
            <c:idx val="0"/>
            <c:spPr>
              <a:solidFill>
                <a:srgbClr val="D95F02"/>
              </a:solidFill>
              <a:ln>
                <a:noFill/>
              </a:ln>
            </c:spPr>
          </c:dPt>
          <c:dPt>
            <c:idx val="1"/>
            <c:spPr>
              <a:solidFill>
                <a:srgbClr val="B8B8B4"/>
              </a:solidFill>
              <a:ln>
                <a:noFill/>
              </a:ln>
            </c:spPr>
          </c:dPt>
          <c:dPt>
            <c:idx val="2"/>
            <c:spPr>
              <a:solidFill>
                <a:srgbClr val="B8B8B4"/>
              </a:solidFill>
              <a:ln>
                <a:noFill/>
              </a:ln>
            </c:spPr>
          </c:dPt>
          <c:dPt>
            <c:idx val="3"/>
            <c:spPr>
              <a:solidFill>
                <a:srgbClr val="1B9E77"/>
              </a:solidFill>
              <a:ln>
                <a:noFill/>
              </a:ln>
            </c:spPr>
          </c:dPt>
          <c:dPt>
            <c:idx val="4"/>
            <c:spPr>
              <a:solidFill>
                <a:srgbClr val="1F77B4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Dense MLP</c:v>
                </c:pt>
                <c:pt idx="1">
                  <c:v>+ object-centric</c:v>
                </c:pt>
                <c:pt idx="2">
                  <c:v>+ residual</c:v>
                </c:pt>
                <c:pt idx="3">
                  <c:v>+ gate (sparse)</c:v>
                </c:pt>
                <c:pt idx="4">
                  <c:v>No-op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0.367</c:v>
                </c:pt>
                <c:pt idx="1">
                  <c:v>0.239</c:v>
                </c:pt>
                <c:pt idx="2">
                  <c:v>0.221</c:v>
                </c:pt>
                <c:pt idx="3">
                  <c:v>0.116</c:v>
                </c:pt>
                <c:pt idx="4">
                  <c:v>0.128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2"/>
          <c:min val="0.0"/>
        </c:scaling>
        <c:delete val="0"/>
        <c:axPos val="l"/>
        <c:majorGridlines>
          <c:spPr>
            <a:ln w="6350">
              <a:solidFill>
                <a:srgbClr val="D9D9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dPt>
            <c:idx val="0"/>
            <c:spPr>
              <a:solidFill>
                <a:srgbClr val="B8B8B4"/>
              </a:solidFill>
              <a:ln>
                <a:noFill/>
              </a:ln>
            </c:spPr>
          </c:dPt>
          <c:dPt>
            <c:idx val="1"/>
            <c:spPr>
              <a:solidFill>
                <a:srgbClr val="B8B8B4"/>
              </a:solidFill>
              <a:ln>
                <a:noFill/>
              </a:ln>
            </c:spPr>
          </c:dPt>
          <c:dPt>
            <c:idx val="2"/>
            <c:spPr>
              <a:solidFill>
                <a:srgbClr val="1B9E77"/>
              </a:solidFill>
              <a:ln>
                <a:noFill/>
              </a:ln>
            </c:spPr>
          </c:dPt>
          <c:dPt>
            <c:idx val="3"/>
            <c:spPr>
              <a:solidFill>
                <a:srgbClr val="1F77B4"/>
              </a:solidFill>
              <a:ln>
                <a:noFill/>
              </a:ln>
            </c:spPr>
          </c:dPt>
          <c:dPt>
            <c:idx val="4"/>
            <c:spPr>
              <a:solidFill>
                <a:srgbClr val="D95F02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Oracle (true simulator)</c:v>
                </c:pt>
                <c:pt idx="1">
                  <c:v>Scripted controller</c:v>
                </c:pt>
                <c:pt idx="2">
                  <c:v>Sparse (contact feats)</c:v>
                </c:pt>
                <c:pt idx="3">
                  <c:v>Random actions</c:v>
                </c:pt>
                <c:pt idx="4">
                  <c:v>Dense (diverse data)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0.95</c:v>
                </c:pt>
                <c:pt idx="2">
                  <c:v>0.23</c:v>
                </c:pt>
                <c:pt idx="3">
                  <c:v>0.15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b"/>
        <c:majorGridlines>
          <c:spPr>
            <a:ln w="6350">
              <a:solidFill>
                <a:srgbClr val="D9D9D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Change-detection F1</c:v>
                </c:pt>
              </c:strCache>
            </c:strRef>
          </c:tx>
          <c:dPt>
            <c:idx val="0"/>
            <c:spPr>
              <a:solidFill>
                <a:srgbClr val="1B9E77"/>
              </a:solidFill>
              <a:ln>
                <a:noFill/>
              </a:ln>
            </c:spPr>
          </c:dPt>
          <c:dPt>
            <c:idx val="1"/>
            <c:spPr>
              <a:solidFill>
                <a:srgbClr val="1C1C1E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Learned gate (this paper)</c:v>
                </c:pt>
                <c:pt idx="1">
                  <c:v>“moving or near the pusher”, 1 parameter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0.823</c:v>
                </c:pt>
                <c:pt idx="1">
                  <c:v>0.927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b"/>
        <c:majorGridlines>
          <c:spPr>
            <a:ln w="6350">
              <a:solidFill>
                <a:srgbClr val="D9D9D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I'm going to talk about a very simple idea for world models of manipulation</a:t>
            </a:r>
          </a:p>
          <a:p>
            <a:r>
              <a:t>scenes: model what changes, and copy everything else.</a:t>
            </a:r>
          </a:p>
          <a:p/>
          <a:p>
            <a:r>
              <a:t>(Title, authors and venue. Repository: https://github.com/ParamThakkar123/sparse_world_models)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observation. When a robot nudges one block on a cluttered table, exactly one</a:t>
            </a:r>
          </a:p>
          <a:p>
            <a:r>
              <a:t>pose changes. The rest of the scene is not approximately the same; it is identical.</a:t>
            </a:r>
          </a:p>
          <a:p/>
          <a:p>
            <a:r>
              <a:t>The dominant world-model recipe ignores that. It encodes the scene and regresses the whole</a:t>
            </a:r>
          </a:p>
          <a:p>
            <a:r>
              <a:t>next state, monolithically, at every step. So it spends its capacity reproducing objects that</a:t>
            </a:r>
          </a:p>
          <a:p>
            <a:r>
              <a:t>did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costs. Capacity is the obvious one. Error injection is the insidious one: a regressor</a:t>
            </a:r>
          </a:p>
          <a:p>
            <a:r>
              <a:t>that has to output every pose will inevitably perturb the objects it should have left alone,</a:t>
            </a:r>
          </a:p>
          <a:p>
            <a:r>
              <a:t>and in a rollout that error compounds precisely on the objects that never moved. And third,</a:t>
            </a:r>
          </a:p>
          <a:p>
            <a:r>
              <a:t>interpretability: a monolithic model has no explicit belief about what will change.</a:t>
            </a:r>
          </a:p>
          <a:p/>
          <a:p>
            <a:r>
              <a:t>We ask whether explicitly modelling what changes addresses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deliberately simple and object-centric. For each object we build a feature</a:t>
            </a:r>
          </a:p>
          <a:p>
            <a:r>
              <a:t>vector from its pose, velocity, relative goal and pusher positions, the action, and a</a:t>
            </a:r>
          </a:p>
          <a:p>
            <a:r>
              <a:t>permutation-invariant aggregate over the other objects.</a:t>
            </a:r>
          </a:p>
          <a:p/>
          <a:p>
            <a:r>
              <a:t>A gate network emits a change decision, zero or one. A delta head emits a pose residual in</a:t>
            </a:r>
          </a:p>
          <a:p>
            <a:r>
              <a:t>R^3. The next pose is the current pose plus the masked residual. If the gate is off, the</a:t>
            </a:r>
          </a:p>
          <a:p>
            <a:r>
              <a:t>object is copied verbatim: not approximately, exactly.</a:t>
            </a:r>
          </a:p>
          <a:p/>
          <a:p>
            <a:r>
              <a:t>The gate is discrete, trained with a Gumbel straight-through estimator, so it is hard at</a:t>
            </a:r>
          </a:p>
          <a:p>
            <a:r>
              <a:t>inference. And because the heads are shared and nothing is sized to the object count, a</a:t>
            </a:r>
          </a:p>
          <a:p>
            <a:r>
              <a:t>model trained on 3 objects runs on 8 with no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terms. A class-balanced BCE on the gate against the ground-truth changed mask. An L2 on</a:t>
            </a:r>
          </a:p>
          <a:p>
            <a:r>
              <a:t>the residual, supervised only where something actually changed. And a sparsity penalty on the</a:t>
            </a:r>
          </a:p>
          <a:p>
            <a:r>
              <a:t>mean gate activation.</a:t>
            </a:r>
          </a:p>
          <a:p/>
          <a:p>
            <a:r>
              <a:t>The sparsity weight is a precision-recall knob. A five-point sweep moves precision from 0.94</a:t>
            </a:r>
          </a:p>
          <a:p>
            <a:r>
              <a:t>to 0.97 and recall from 0.81 to 0.71; F1 degrades only gently. We use 0.2 for prediction.</a:t>
            </a:r>
          </a:p>
          <a:p>
            <a:r>
              <a:t>(Appendix D of the paper.)</a:t>
            </a:r>
          </a:p>
          <a:p/>
          <a:p>
            <a:r>
              <a:t>Everything is tiny: two-layer, width-128 heads, under 0.1 million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setup is deliberately controlled and I want to state its bounds up front: structured</a:t>
            </a:r>
          </a:p>
          <a:p>
            <a:r>
              <a:t>per-object state, not pixels; three to eight rigid boxes; small MLPs.</a:t>
            </a:r>
          </a:p>
          <a:p/>
          <a:p>
            <a:r>
              <a:t>Two baselines. A dense MLP that regresses every pose. And no-op, which predicts that nothing</a:t>
            </a:r>
          </a:p>
          <a:p>
            <a:r>
              <a:t>moves. No-op matters: on a scene that is mostly static it is a strong floor, and I will come</a:t>
            </a:r>
          </a:p>
          <a:p>
            <a:r>
              <a:t>back to it.</a:t>
            </a:r>
          </a:p>
          <a:p/>
          <a:p>
            <a:r>
              <a:t>The metric that matters most today is per-object pose L2 split into changed and unchanged</a:t>
            </a:r>
          </a:p>
          <a:p>
            <a:r>
              <a:t>objects. That split is what lets us say where a win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headline comparison, Table I of the paper. At every object count the sparse</a:t>
            </a:r>
          </a:p>
          <a:p>
            <a:r>
              <a:t>model's overall L2 is 2.5 to 4.6 times lower than the dense MLP, with 8.6 to 11.1 times fewer</a:t>
            </a:r>
          </a:p>
          <a:p>
            <a:r>
              <a:t>parameters. Change detection holds F1 0.80 to 0.87 at precision 0.92 to 0.97, where the dense</a:t>
            </a:r>
          </a:p>
          <a:p>
            <a:r>
              <a:t>model is degenerate: it says everything moves.</a:t>
            </a:r>
          </a:p>
          <a:p/>
          <a:p>
            <a:r>
              <a:t>Now look at the blue bars. That is no-op, and sparse essentially matches it. Hold that</a:t>
            </a:r>
          </a:p>
          <a:p>
            <a:r>
              <a:t>thought; it is the most important thing on this slide.</a:t>
            </a:r>
          </a:p>
          <a:p/>
          <a:p>
            <a:r>
              <a:t>Efficiency caveat, stated honestly: the win is parameters, not wall-clock. Per-object heads</a:t>
            </a:r>
          </a:p>
          <a:p>
            <a:r>
              <a:t>scale with N, and the dense model's single matmul is faster in latency (Appendix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Qualitatively this is what it looks like. Two held-out scenes, arrows are predicted</a:t>
            </a:r>
          </a:p>
          <a:p>
            <a:r>
              <a:t>displacement. Ground truth on the left: one object moves. Sparse in the middle: the gate fires</a:t>
            </a:r>
          </a:p>
          <a:p>
            <a:r>
              <a:t>on that object and only that object. Dense on the right: it hallucinates motion on all three.</a:t>
            </a:r>
          </a:p>
          <a:p/>
          <a:p>
            <a:r>
              <a:t>That is error injection, and it is what the gate removes.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 care most about. Why does it win?</a:t>
            </a:r>
          </a:p>
          <a:p/>
          <a:p>
            <a:r>
              <a:t>First, it is not just smaller: a dense MLP shrunk to the same parameter budget is still 3 to</a:t>
            </a:r>
          </a:p>
          <a:p>
            <a:r>
              <a:t>5 times worse (Appendix E). Second, the ladder on the left adds one ingredient at a time:</a:t>
            </a:r>
          </a:p>
          <a:p>
            <a:r>
              <a:t>object-centric featurization, then an always-on residual, then the gate. Featurization earns a</a:t>
            </a:r>
          </a:p>
          <a:p>
            <a:r>
              <a:t>third to a half of the gap, residual a bit more, but the gate is the largest single step and</a:t>
            </a:r>
          </a:p>
          <a:p>
            <a:r>
              <a:t>the only rung that gets below no-op. The unchanged-object column shows the mechanism: error on</a:t>
            </a:r>
          </a:p>
          <a:p>
            <a:r>
              <a:t>static objects goes from 0.211 to 0.001.</a:t>
            </a:r>
          </a:p>
          <a:p/>
          <a:p>
            <a:r>
              <a:t>Now the table on the right, our oracle-gate diagnostic (Appendix F). If we give the delta head</a:t>
            </a:r>
          </a:p>
          <a:p>
            <a:r>
              <a:t>the ground-truth changed mask, changed-object error barely moves. And it sits right at the</a:t>
            </a:r>
          </a:p>
          <a:p>
            <a:r>
              <a:t>no-op floor. So, stated plainly: the win is not accurate dynamics on movers. It is change</a:t>
            </a:r>
          </a:p>
          <a:p>
            <a:r>
              <a:t>detection that avoids injecting error into everything else. One-step contact deltas,</a:t>
            </a:r>
          </a:p>
          <a:p>
            <a:r>
              <a:t>especially rotation, are simply hard, and the delta head is the highest-leverage thing to fix.</a:t>
            </a:r>
          </a:p>
          <a:p/>
          <a:p>
            <a:r>
              <a:t>One missing rung we flag in the paper: a dense, non-object-centric model predicting residuals.</a:t>
            </a:r>
          </a:p>
          <a:p>
            <a:r>
              <a:t>That is immediate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world-model properties, Figure 3 of the paper.</a:t>
            </a:r>
          </a:p>
          <a:p/>
          <a:p>
            <a:r>
              <a:t>Rollout: close the loop for twenty steps. Dense drifts, sparse compounds far less error, 3.4 to</a:t>
            </a:r>
          </a:p>
          <a:p>
            <a:r>
              <a:t>6.4 times less at horizon 20 (Table III). But be honest with the blue line: sparse is above</a:t>
            </a:r>
          </a:p>
          <a:p>
            <a:r>
              <a:t>no-op at every horizon. The decomposition says why: sparse wins on unchanged objects and only</a:t>
            </a:r>
          </a:p>
          <a:p>
            <a:r>
              <a:t>ties no-op on movers, consistent with the one-step result.</a:t>
            </a:r>
          </a:p>
          <a:p/>
          <a:p>
            <a:r>
              <a:t>Transfer: because nothing is sized to N, a model trained on 3 objects runs on 8 with zero</a:t>
            </a:r>
          </a:p>
          <a:p>
            <a:r>
              <a:t>retraining. Off-diagonal F1 retains 99.4 percent of the diagonal. The dense model cannot even</a:t>
            </a:r>
          </a:p>
          <a:p>
            <a:r>
              <a:t>be executed off-count; its input dimension is wrong.</a:t>
            </a:r>
          </a:p>
          <a:p/>
          <a:p>
            <a:r>
              <a:t>Sample efficiency: sparse reaches about 90 percent of full-data F1 with a quarter of the data.</a:t>
            </a:r>
          </a:p>
          <a:p>
            <a:r>
              <a:t>(b and c are seed 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any of this help control? Each model is the forward simulator inside the same CEM</a:t>
            </a:r>
          </a:p>
          <a:p>
            <a:r>
              <a:t>planner on a push-to-goal task; the model is the only thing that changes.</a:t>
            </a:r>
          </a:p>
          <a:p/>
          <a:p>
            <a:r>
              <a:t>Round 1 was a clean negative result. The oracle solves every episode, so the planner and task</a:t>
            </a:r>
          </a:p>
          <a:p>
            <a:r>
              <a:t>are fine. Both learned models score zero, worse than random. The cause is out-of-distribution</a:t>
            </a:r>
          </a:p>
          <a:p>
            <a:r>
              <a:t>querying: the planner visits near-rest, teleported states the models never saw. Dense</a:t>
            </a:r>
          </a:p>
          <a:p>
            <a:r>
              <a:t>hallucinates motion with no contact; sparse's velocity features leave its gate silent.</a:t>
            </a:r>
          </a:p>
          <a:p/>
          <a:p>
            <a:r>
              <a:t>Round 2 fixes the diagnosed cause: contact-aware, velocity-free features and diverse data. With</a:t>
            </a:r>
          </a:p>
          <a:p>
            <a:r>
              <a:t>the planner unchanged, sparse goes from zero to 0.23 and halves its final distance, while dense</a:t>
            </a:r>
          </a:p>
          <a:p>
            <a:r>
              <a:t>stays at zero at every seed.</a:t>
            </a:r>
          </a:p>
          <a:p/>
          <a:p>
            <a:r>
              <a:t>But I will not oversell it. 0.23 against random's 0.15 is not significant; the weakest seed</a:t>
            </a:r>
          </a:p>
          <a:p>
            <a:r>
              <a:t>is exactly 0.15. The robust claim is separation from dense at every seed, not that sparse</a:t>
            </a:r>
          </a:p>
          <a:p>
            <a:r>
              <a:t>"begins to plan".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put both halves side by side, because the paper does.</a:t>
            </a:r>
          </a:p>
          <a:p/>
          <a:p>
            <a:r>
              <a:t>It is a change detector that avoids error injection. That is a real and durable win over</a:t>
            </a:r>
          </a:p>
          <a:p>
            <a:r>
              <a:t>dense, one-step, in rollout, and in planning, at a tenth of the parameters, with a mask you</a:t>
            </a:r>
          </a:p>
          <a:p>
            <a:r>
              <a:t>can inspect.</a:t>
            </a:r>
          </a:p>
          <a:p/>
          <a:p>
            <a:r>
              <a:t>It is not an accurate predictor of the objects that move. On those, it is at no-op quality.</a:t>
            </a:r>
          </a:p>
          <a:p>
            <a:r>
              <a:t>Overall it matches no-op; in rollout it is worse than no-op; in planning it is not</a:t>
            </a:r>
          </a:p>
          <a:p>
            <a:r>
              <a:t>significantly better than random. Phrases like "predicts dynamics far more accurately" invite</a:t>
            </a:r>
          </a:p>
          <a:p>
            <a:r>
              <a:t>a reading the data do not support, and we retired them from the paper.</a:t>
            </a:r>
          </a:p>
          <a:p/>
          <a:p>
            <a:r>
              <a:t>Also: F1 is partly a property of the metric (thresholding a dense regressor forces recall to</a:t>
            </a:r>
          </a:p>
          <a:p>
            <a:r>
              <a:t>1), so we foreground the changed / unchanged L2 split instead. And the ladder is missing a</a:t>
            </a:r>
          </a:p>
          <a:p>
            <a:r>
              <a:t>dense-residual rung, which confounds residual against object-centricity.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takeaways. Model what changes: the gate plus masked residual is a one-line bias that</a:t>
            </a:r>
          </a:p>
          <a:p>
            <a:r>
              <a:t>stops error injection. Decompose the metric: the changed / unchanged split and the no-op</a:t>
            </a:r>
          </a:p>
          <a:p>
            <a:r>
              <a:t>column are what turned a headline into an honest claim. And the delta head is the lever:</a:t>
            </a:r>
          </a:p>
          <a:p>
            <a:r>
              <a:t>detection is solved, regression of contact deltas is not.</a:t>
            </a:r>
          </a:p>
          <a:p/>
          <a:p>
            <a:r>
              <a:t>Code, data generators, checkpoints and machine-readable tables are at https://github.com/ParamThakkar123/sparse_world_models. The QR code</a:t>
            </a:r>
          </a:p>
          <a:p>
            <a:r>
              <a:t>also reaches an in-browser demo that runs the real checkpoints on live physics.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SLIDE. Use it if you want to end on the strongest possible note of scientific</a:t>
            </a:r>
          </a:p>
          <a:p>
            <a:r>
              <a:t>honesty; drop it if the talk is short or you prefer to keep the follow-up for its own venue.</a:t>
            </a:r>
          </a:p>
          <a:p/>
          <a:p>
            <a:r>
              <a:t>After the camera-ready we asked a question we should have asked earlier: what does a trivial</a:t>
            </a:r>
          </a:p>
          <a:p>
            <a:r>
              <a:t>rule score on our own benchmark? "The object is moving, or it is near the pusher": one</a:t>
            </a:r>
          </a:p>
          <a:p>
            <a:r>
              <a:t>parameter, F1 0.927. Our learned gate: 0.823.</a:t>
            </a:r>
          </a:p>
          <a:p/>
          <a:p>
            <a:r>
              <a:t>The reason is structural. With a single point-like pusher the changed label is recoverable</a:t>
            </a:r>
          </a:p>
          <a:p>
            <a:r>
              <a:t>from one scalar, so the benchmark is degenerate. Filtering harder only changes which one-liner</a:t>
            </a:r>
          </a:p>
          <a:p>
            <a:r>
              <a:t>wins. The error-suppression mechanism in this paper still holds; what does not hold is any</a:t>
            </a:r>
          </a:p>
          <a:p>
            <a:r>
              <a:t>claim that a learned gate is needed to get it on this benchmark. Our follow-up is a</a:t>
            </a:r>
          </a:p>
          <a:p>
            <a:r>
              <a:t>trivial-baseline audit battery, and our recommendation to this community is: run it.</a:t>
            </a:r>
          </a:p>
          <a:p/>
          <a:p>
            <a:r>
              <a:t>(Numbers: README / experiments/RESULTS.md, motion benchmark, best trivial rule vs best learned gate.)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Appendix C, Table V: parameters, FLOP estimate and CPU latency (Intel i7-12650H).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Appendix D (Table VI), Appendix G (Table IX, 20 episodes per seed) and Appendix E (Table VII).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9E77"/>
                </a:solidFill>
                <a:latin typeface="Calibri"/>
              </a:rPr>
              <a:t>WORLDS WORKSHOP  ·  IEEE/RSJ IROS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Calibri"/>
              </a:rPr>
              <a:t>Modeling What Changes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6E6E73"/>
                </a:solidFill>
                <a:latin typeface="Calibri"/>
              </a:rPr>
              <a:t>Sparse, Residual World Models for Object-Centric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Param Thakkar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Veermata Jijabai Technological Institute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Parsika Paresh Shah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Arizona State University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Manisha Sushant Gote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ZuiGO Private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Code, data generators, checkpoints:  https://github.com/ParamThakkar123/sparse_world_models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7160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531352" y="1847088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579608" y="1956816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823960" y="3895344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725912" y="3931920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555480" y="3054095"/>
            <a:ext cx="420623" cy="420623"/>
          </a:xfrm>
          <a:prstGeom prst="rect">
            <a:avLst/>
          </a:prstGeom>
          <a:noFill/>
          <a:ln w="15875">
            <a:solidFill>
              <a:srgbClr val="6E6E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140695" y="2688336"/>
            <a:ext cx="420623" cy="420623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 flipV="1">
            <a:off x="10030968" y="3054095"/>
            <a:ext cx="109727" cy="128016"/>
          </a:xfrm>
          <a:prstGeom prst="line">
            <a:avLst/>
          </a:prstGeom>
          <a:ln w="25400">
            <a:solidFill>
              <a:srgbClr val="1B9E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043416" y="3456432"/>
            <a:ext cx="256031" cy="256031"/>
          </a:xfrm>
          <a:prstGeom prst="ellipse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 flipV="1">
            <a:off x="9299448" y="3401568"/>
            <a:ext cx="219456" cy="164592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THE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Physical scenes are sparse in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4297680" cy="429768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5801" y="2158898"/>
            <a:ext cx="494233" cy="49423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562502" y="2287828"/>
            <a:ext cx="494233" cy="49423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9616" y="4565599"/>
            <a:ext cx="494233" cy="49423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734409" y="4608576"/>
            <a:ext cx="494233" cy="49423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359152" y="3577132"/>
            <a:ext cx="494233" cy="494233"/>
          </a:xfrm>
          <a:prstGeom prst="rect">
            <a:avLst/>
          </a:prstGeom>
          <a:noFill/>
          <a:ln w="15875">
            <a:solidFill>
              <a:srgbClr val="6E6E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046780" y="3147364"/>
            <a:ext cx="494233" cy="494233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 flipV="1">
            <a:off x="2917850" y="3577132"/>
            <a:ext cx="128930" cy="150419"/>
          </a:xfrm>
          <a:prstGeom prst="line">
            <a:avLst/>
          </a:prstGeom>
          <a:ln w="25400">
            <a:solidFill>
              <a:srgbClr val="1B9E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757476" y="4049877"/>
            <a:ext cx="300837" cy="300837"/>
          </a:xfrm>
          <a:prstGeom prst="ellipse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2058314" y="3985412"/>
            <a:ext cx="257861" cy="193396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17850" y="2717596"/>
            <a:ext cx="1933956" cy="386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9E77"/>
                </a:solidFill>
                <a:latin typeface="Calibri"/>
              </a:rPr>
              <a:t>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71" y="2717596"/>
            <a:ext cx="1719072" cy="386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stays exactly 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8778" y="3877970"/>
            <a:ext cx="1074420" cy="386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pusher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73736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C1C1E"/>
                </a:solidFill>
                <a:latin typeface="Calibri"/>
              </a:rPr>
              <a:t>One push. One object moves.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6E6E73"/>
                </a:solidFill>
                <a:latin typeface="Calibri"/>
              </a:rPr>
              <a:t>Every other object is exactly where it was.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42900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Dominant recipe: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encode the scene, regress the </a:t>
            </a:r>
            <a:r>
              <a:rPr sz="1800" b="0" i="1">
                <a:solidFill>
                  <a:srgbClr val="1C1C1E"/>
                </a:solidFill>
                <a:latin typeface="Calibri"/>
              </a:rPr>
              <a:t>entire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 next state every step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It has to re-produce the static majority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at every step, for every object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The change structure of the world is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thrown away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 before learning starts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Re-predicting everything has three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Calibri"/>
              </a:rP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C1C1E"/>
                </a:solidFill>
                <a:latin typeface="Calibri"/>
              </a:rPr>
              <a:t>Parameters and operations are spent on the static majority, not on the few objects that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6344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Calibri"/>
              </a:rPr>
              <a:t>Error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C1C1E"/>
                </a:solidFill>
                <a:latin typeface="Calibri"/>
              </a:rPr>
              <a:t>A regressor that outputs every pose perturbs objects it should have copied. Closed loop, that error accumulates on objects that never moved: the predicted world drifts.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Calibri"/>
              </a:rPr>
              <a:t>No handle on “what”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C1C1E"/>
                </a:solidFill>
                <a:latin typeface="Calibri"/>
              </a:rPr>
              <a:t>A monolithic predictor never says which objects it expects to move. For control and debugging, that belief is entangled in one regression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6E6E73"/>
                </a:solidFill>
                <a:latin typeface="Calibri"/>
              </a:rPr>
              <a:t>The second cost is the insidious one: it is exactly the objects that never moved that drift.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OUR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Gate what changes, copy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2194560" cy="822960"/>
          </a:xfrm>
          <a:prstGeom prst="roundRect">
            <a:avLst>
              <a:gd name="adj" fmla="val 18000"/>
            </a:avLst>
          </a:prstGeom>
          <a:solidFill>
            <a:srgbClr val="F4F4F1"/>
          </a:solidFill>
          <a:ln w="1587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per-object features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φᵢ(sₜ, aₜ)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377440" cy="82296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5875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9E77"/>
                </a:solidFill>
                <a:latin typeface="Calibri"/>
              </a:rPr>
              <a:t>gate net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gᵢ ∈ {0, 1}  ·  straight-through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749040"/>
            <a:ext cx="237744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0" y="374904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delta head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Δᵢ ∈ ℝ³  ·  pose residual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0" y="2926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926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1C1E"/>
                </a:solidFill>
                <a:latin typeface="Calibri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788920"/>
            <a:ext cx="3108960" cy="82296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5875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0" y="278892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p̂ᵢᵗ⁺¹ = pᵢᵗ + gᵢ · Δᵢ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masked residual added to current pose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926080" y="2240280"/>
            <a:ext cx="731520" cy="86868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3291840"/>
            <a:ext cx="731520" cy="86868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2240280"/>
            <a:ext cx="1143000" cy="77724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35040" y="3383280"/>
            <a:ext cx="1143000" cy="77724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0" y="3200400"/>
            <a:ext cx="822960" cy="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14630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shared weights, applied to every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57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9E77"/>
                </a:solidFill>
                <a:latin typeface="Calibri"/>
              </a:rPr>
              <a:t>gate off  ⇒  object copied verbatim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Per-object gate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decides which objects move; a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residual delta head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predicts a pose increment applied only to gated objects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Hard at inference: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exactly zero update for un-gated objects. Trained end-to-end with a Gumbel straight-through gate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Count-agnostic: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heads are shared across objects and no layer is sized to N, so one model runs at any object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One loss, three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9E77"/>
                </a:solidFill>
                <a:latin typeface="Calibri"/>
              </a:rPr>
              <a:t>ℒ  =  BCE(g, m*)</a:t>
            </a:r>
            <a:r>
              <a:rPr sz="3000" b="0" i="0">
                <a:solidFill>
                  <a:srgbClr val="1C1C1E"/>
                </a:solidFill>
                <a:latin typeface="Calibri"/>
              </a:rPr>
              <a:t>   +   λ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Δ</a:t>
            </a:r>
            <a:r>
              <a:rPr sz="3000" b="0" i="0">
                <a:solidFill>
                  <a:srgbClr val="1C1C1E"/>
                </a:solidFill>
                <a:latin typeface="Calibri"/>
              </a:rPr>
              <a:t> · m* · ‖Δ − Δ*‖²</a:t>
            </a:r>
            <a:r>
              <a:rPr sz="3000" b="0" i="0">
                <a:solidFill>
                  <a:srgbClr val="1C1C1E"/>
                </a:solidFill>
                <a:latin typeface="Calibri"/>
              </a:rPr>
              <a:t>   +   λ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s</a:t>
            </a:r>
            <a:r>
              <a:rPr sz="3000" b="0" i="0">
                <a:solidFill>
                  <a:srgbClr val="1C1C1E"/>
                </a:solidFill>
                <a:latin typeface="Calibri"/>
              </a:rPr>
              <a:t> · 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9E77"/>
                </a:solidFill>
                <a:latin typeface="Calibri"/>
              </a:rPr>
              <a:t>Change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Class-balanced binary cross-entropy against the ground-truth changed mask m*. This is what the gate learns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337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1C1E"/>
                </a:solidFill>
                <a:latin typeface="Calibri"/>
              </a:rPr>
              <a:t>Residual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L2 on the delta, supervised only on objects that actually changed. Un-gated objects contribute nothing.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337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1C1E"/>
                </a:solidFill>
                <a:latin typeface="Calibri"/>
              </a:rPr>
              <a:t>Sparsity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Penalty on the mean gate activation ḡ. Trades recall for precision: λs 0 → 1 moves precision 0.94 → 0.97, recall 0.81 → 0.71.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E6E73"/>
                </a:solidFill>
                <a:latin typeface="Calibri"/>
              </a:rPr>
              <a:t>Small by design: </a:t>
            </a:r>
            <a:r>
              <a:rPr sz="1500" b="0" i="0">
                <a:solidFill>
                  <a:srgbClr val="6E6E73"/>
                </a:solidFill>
                <a:latin typeface="Calibri"/>
              </a:rPr>
              <a:t>gate and delta heads are 2-layer, width-128 MLPs. Under 0.1M parameters, trains and plans on a laptop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A controlled tabletop pushing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6751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Environment 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procedural MuJoCo tabletop, N ∈ {3, 5, 8} free 5 cm boxes, scripted pushing policy</a:t>
            </a:r>
          </a:p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State 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pusher position, per-object planar pose (x, y, θ) and velocity, goal. Structured state, not pixels</a:t>
            </a:r>
          </a:p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Action 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end-effector Δxy to a position-controlled pusher</a:t>
            </a:r>
          </a:p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Data 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250 episodes × 100 steps per (N, seed), filtered to a hard subset with real motion; 80/10/10 split with a configuration-leakage guard</a:t>
            </a:r>
          </a:p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Seeds 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headline tables are mean ± std over 3 training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840480" cy="429768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00999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E73"/>
                </a:solidFill>
                <a:latin typeface="Calibri"/>
              </a:rPr>
              <a:t>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999" y="210312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5F02"/>
                </a:solidFill>
                <a:latin typeface="Calibri"/>
              </a:rPr>
              <a:t>Dense MLP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 regresses all poses; width 256, 3 layers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No-op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 predicts no change at all. The floor every world model must beat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999" y="3703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E73"/>
                </a:solidFill>
                <a:latin typeface="Calibri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999" y="40233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E"/>
                </a:solidFill>
                <a:latin typeface="Calibri"/>
              </a:rPr>
              <a:t>Per-object pose L2, </a:t>
            </a:r>
            <a:r>
              <a:rPr sz="1500" b="1" i="0">
                <a:solidFill>
                  <a:srgbClr val="1C1C1E"/>
                </a:solidFill>
                <a:latin typeface="Calibri"/>
              </a:rPr>
              <a:t>split into changed and unchanged objects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E"/>
                </a:solidFill>
                <a:latin typeface="Calibri"/>
              </a:rPr>
              <a:t>Change-detection precision, recall, F1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E"/>
                </a:solidFill>
                <a:latin typeface="Calibri"/>
              </a:rPr>
              <a:t>Parameters, operations,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PREDICTION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Lower error at a fraction of the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Overall per-object pose L2 on held-out transitions, lower is better (Tables I and II; 3 seeds).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2.5 – 4.6×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6771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lower overall L2 than dense, at every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9718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8.6 – 11.1×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68503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fewer parameters (6.9k–10.8k vs 77k–92k)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3891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C1C1E"/>
                </a:solidFill>
                <a:latin typeface="Calibri"/>
              </a:rPr>
              <a:t>F1 0.80 – 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0235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change detection, precision 0.92–0.97; dense is degenerate (recall ≈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PREDICTION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Sparse moves only what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qualitative.png"/>
          <p:cNvPicPr>
            <a:picLocks noChangeAspect="1"/>
          </p:cNvPicPr>
          <p:nvPr/>
        </p:nvPicPr>
        <p:blipFill>
          <a:blip r:embed="rId2"/>
          <a:srcRect t="5500"/>
          <a:stretch>
            <a:fillRect/>
          </a:stretch>
        </p:blipFill>
        <p:spPr>
          <a:xfrm>
            <a:off x="822960" y="1554480"/>
            <a:ext cx="645200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737360"/>
            <a:ext cx="4206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Arrows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are predicted displacement, current to next position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Ground truth: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one object moves per step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B9E77"/>
                </a:solidFill>
                <a:latin typeface="Calibri"/>
              </a:rPr>
              <a:t>Sparse (ours):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the gate fires on that object alone; the other two are copied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D95F02"/>
                </a:solidFill>
                <a:latin typeface="Calibri"/>
              </a:rPr>
              <a:t>Dense: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hallucinates motion on every object, including the ones that should stay 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Fig. 2 of the paper, two held-out scenes.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WHY IT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Where the win actually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6400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46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Capacity-matched ladder, 3 objects, seed 0 (Table II). Each rung adds one ingredient.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Unchanged-object L2 down the ladder: 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0.211  →  0.111  →  0.086  →  </a:t>
            </a:r>
            <a:r>
              <a:rPr sz="1600" b="1" i="0">
                <a:solidFill>
                  <a:srgbClr val="1B9E77"/>
                </a:solidFill>
                <a:latin typeface="Calibri"/>
              </a:rPr>
              <a:t>0.001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The gate is the largest single step (1.7–2.0× at every N) and the only rung that reaches below no-op.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1C1E"/>
                </a:solidFill>
                <a:latin typeface="Calibri"/>
              </a:rPr>
              <a:t>Changed-object L2 with a perfect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5740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05740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9E77"/>
                </a:solidFill>
                <a:latin typeface="Calibri"/>
              </a:rPr>
              <a:t>predicted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205740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oracle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599" y="205740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F77B4"/>
                </a:solidFill>
                <a:latin typeface="Calibri"/>
              </a:rPr>
              <a:t>no-op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441448"/>
            <a:ext cx="4114800" cy="0"/>
          </a:xfrm>
          <a:prstGeom prst="line">
            <a:avLst/>
          </a:prstGeom>
          <a:ln w="12700">
            <a:solidFill>
              <a:srgbClr val="1C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79" y="2441448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44144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44144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599" y="244144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0.348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2825496"/>
            <a:ext cx="41148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79" y="2825496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282549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82549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599" y="282549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0.446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3209544"/>
            <a:ext cx="41148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79" y="3209544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20954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320954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9" y="320954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0.470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3593592"/>
            <a:ext cx="4114800" cy="0"/>
          </a:xfrm>
          <a:prstGeom prst="line">
            <a:avLst/>
          </a:prstGeom>
          <a:ln w="1270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79" y="388620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C1C1E"/>
                </a:solidFill>
                <a:latin typeface="Calibri"/>
              </a:rPr>
              <a:t>Feeding the delta head the ground-truth mask barely moves the number.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1C1E"/>
                </a:solidFill>
                <a:latin typeface="Calibri"/>
              </a:rPr>
              <a:t>So the win is detecting what changed and </a:t>
            </a:r>
            <a:r>
              <a:rPr sz="1500" b="1" i="0">
                <a:solidFill>
                  <a:srgbClr val="1B9E77"/>
                </a:solidFill>
                <a:latin typeface="Calibri"/>
              </a:rPr>
              <a:t>not corrupting the static majority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. On the movers themselves, sparse is at roughly no-op quality: the bottleneck is delta regression, not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IT IS A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Rollout, transfer across counts, sample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world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2798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8970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(a) Rollout, 20 steps closed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01184"/>
            <a:ext cx="3520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Sparse compounds 3.4–6.4× less error than dense at every N, but stays above no-op overall: it wins on static objects and only ties on movers.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448970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9E77"/>
                </a:solidFill>
                <a:latin typeface="Calibri"/>
              </a:rPr>
              <a:t>(b) Zero-shot transfer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4901184"/>
            <a:ext cx="3520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One checkpoint, any object count. Off-diagonal F1 0.827 vs 0.832 on the diagonal: 99.4% retention. Dense cannot even be run off-count.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448970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9E77"/>
                </a:solidFill>
                <a:latin typeface="Calibri"/>
              </a:rPr>
              <a:t>(c) Sample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4901184"/>
            <a:ext cx="3520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Sparse reaches about 90% of its full-data F1 with 25% of the data. Dense is flat at every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DOWNSTREAM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Can it plan? Separated from dense, not yet from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08760"/>
          <a:ext cx="6309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40680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Push-target-to-goal, 3 objects, success = target within 5 cm of goal. CEM planner (256 samples × 3 iterations, horizon 15, replan every step); only the model is swapped. Learned models: mean of 3 seeds × 20 episodes (Table IV).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5F02"/>
                </a:solidFill>
                <a:latin typeface="Calibri"/>
              </a:rPr>
              <a:t>Round 1: prediction-trained models cannot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Both learned models: 0.00, worse than random. The planner visits teleported, near-rest states far from the training data. Dense hallucinates 5–10 cm of motion with no contact; the sparse gate goes silent.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375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9E77"/>
                </a:solidFill>
                <a:latin typeface="Calibri"/>
              </a:rPr>
              <a:t>Round 2: fix the diagnosed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94760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Contact-aware, velocity-free features and diverse mixed-policy training data. Same planner. Sparse goes 0.00 → 0.23 ± 0.06 and halves final distance. Dense stays at 0.00 at every seed.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2578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0" y="525780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Calibri"/>
              </a:rPr>
              <a:t>Robust finding: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separation from dense at every seed. Not robust: the margin over random (weakest seed is exactly 0.15).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READING THE RESULTS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What the headline is, and what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9E77"/>
                </a:solidFill>
                <a:latin typeface="Calibri"/>
              </a:rPr>
              <a:t>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09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A change detector that avoids error injection: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F1 0.80–0.87 where dense is degenerate; unchanged-object error 0.211 → 0.001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Far better than dense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one-step (2.5–4.6×), in rollout (3.4–6.4×), and in planning (0.23 vs 0.00 at every seed)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Count-invariant and sample-efficient,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with an inspectable per-object change mask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8.6–11.1× fewer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5F02"/>
                </a:solidFill>
                <a:latin typeface="Calibri"/>
              </a:rPr>
              <a:t>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09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An accurate mover predictor: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changed-object L2 sits at or barely above no-op; overall L2 only matches no-op at N = 5, 8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Better than no-op in rollout: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worse than no-op overall at every N and horizon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Significantly better than random at planning: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0.23 ± 0.06 vs 0.15, one planner, one task, 3 objects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Faster in wall-clock,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or pixel-space: structured state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9E77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1C1E"/>
                </a:solidFill>
                <a:latin typeface="Calibri"/>
              </a:rPr>
              <a:t>Model what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A per-object gate plus a masked residual is a one-line bias that stops a world model from corrupting the static majority of a scene.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9E7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718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1C1E"/>
                </a:solidFill>
                <a:latin typeface="Calibri"/>
              </a:rPr>
              <a:t>Decompose the metric.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2900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Overall L2 hid the story. Splitting error into changed and unchanged objects, and always reporting no-op, is what made the claim honest.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9E77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976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1C1E"/>
                </a:solidFill>
                <a:latin typeface="Calibri"/>
              </a:rPr>
              <a:t>The delta head is the lever.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75488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Detection is solved to F1 0.8+; regression of contact deltas is not. Next: a dense-residual baseline, a distributional delta head, DAgger on planner states, multi-step training, slot-based encoders.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645920"/>
            <a:ext cx="2971800" cy="402336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828800"/>
            <a:ext cx="1965960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3886200"/>
            <a:ext cx="2606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C1C1E"/>
                </a:solidFill>
                <a:latin typeface="Calibri"/>
              </a:rPr>
              <a:t>Code, data generators, checkpoints, result tables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github.com/ParamThakkar123/
sparse_world_models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Live in-browser demo runs the real 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E6E73"/>
                </a:solidFill>
                <a:latin typeface="Calibri"/>
              </a:rPr>
              <a:t>Thank you. Questions welcome.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POSTSCRIPT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Since the camera-ready: run the trivial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C1C1E"/>
                </a:solidFill>
                <a:latin typeface="Calibri"/>
              </a:rPr>
              <a:t>We asked what a one-parameter rule scores on our own change-detection benchmark. </a:t>
            </a:r>
            <a:r>
              <a:rPr sz="2200" b="1" i="0">
                <a:solidFill>
                  <a:srgbClr val="D95F02"/>
                </a:solidFill>
                <a:latin typeface="Calibri"/>
              </a:rPr>
              <a:t>It beats the learned gate.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651760"/>
          <a:ext cx="63093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4924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Motion-filtered benchmark, 3 objects, F1 on held-out transitions.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65176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With one point-like pusher, </a:t>
            </a:r>
            <a:r>
              <a:rPr sz="1500" b="1" i="0">
                <a:solidFill>
                  <a:srgbClr val="1C1C1E"/>
                </a:solidFill>
                <a:latin typeface="Calibri"/>
              </a:rPr>
              <a:t>the changed label is recoverable from a single scalar: 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speed, or distance to the pusher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Filtering the data harder just changes </a:t>
            </a:r>
            <a:r>
              <a:rPr sz="1500" b="0" i="1">
                <a:solidFill>
                  <a:srgbClr val="1C1C1E"/>
                </a:solidFill>
                <a:latin typeface="Calibri"/>
              </a:rPr>
              <a:t>which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one-liner wins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The error-suppression mechanism stands; the </a:t>
            </a:r>
            <a:r>
              <a:rPr sz="1500" b="1" i="0">
                <a:solidFill>
                  <a:srgbClr val="1C1C1E"/>
                </a:solidFill>
                <a:latin typeface="Calibri"/>
              </a:rPr>
              <a:t>benchmark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does not. Every “our model predicts what changes” claim needs a trivial-baseline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E6E73"/>
                </a:solidFill>
                <a:latin typeface="Calibri"/>
              </a:rPr>
              <a:t>Follow-up work in preparation. Audit battery and benchmarks in the repository.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Backup: efficiency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31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6E6E73"/>
                </a:solidFill>
                <a:latin typeface="Calibri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sparse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459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dense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12801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param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459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sparse FLOPs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dense FLOPs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0116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Calibri"/>
              </a:rPr>
              <a:t>latency ms (sparse / dense)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103120"/>
            <a:ext cx="9875520" cy="0"/>
          </a:xfrm>
          <a:prstGeom prst="line">
            <a:avLst/>
          </a:prstGeom>
          <a:ln w="12700">
            <a:solidFill>
              <a:srgbClr val="1C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103120"/>
            <a:ext cx="731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031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6 916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031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76 809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03120"/>
            <a:ext cx="12801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11.1×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031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39 936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031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152 576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0116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0.19 / 0.04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560320"/>
            <a:ext cx="987552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2560320"/>
            <a:ext cx="731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560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8 452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560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82 959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560320"/>
            <a:ext cx="12801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9.8×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81 920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560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164 864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560320"/>
            <a:ext cx="20116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0.20 / 0.04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3017520"/>
            <a:ext cx="987552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0175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10 756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0175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92 184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017520"/>
            <a:ext cx="12801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8.6×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0175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167 936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0175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183 296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017520"/>
            <a:ext cx="20116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1C1C1E"/>
                </a:solidFill>
                <a:latin typeface="Calibri"/>
              </a:rPr>
              <a:t>0.20 / 0.04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3474720"/>
            <a:ext cx="9875520" cy="0"/>
          </a:xfrm>
          <a:prstGeom prst="line">
            <a:avLst/>
          </a:prstGeom>
          <a:ln w="1270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38404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Parameter efficiency is the durable win.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The operation-count advantage erodes from 3.8× to 1.1× as per-object heads scale with N, and the dense model's single matmul is faster in CPU latency. We claim capacity efficiency, not speed.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APPENDICES D AND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Backup: sparsity weight and per-seed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C1E"/>
                </a:solidFill>
                <a:latin typeface="Calibri"/>
              </a:rPr>
              <a:t>Sparsity weight λs (3 objects, seed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Calibri"/>
              </a:rPr>
              <a:t>λs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changed 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1168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overall L2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395728"/>
            <a:ext cx="5943600" cy="0"/>
          </a:xfrm>
          <a:prstGeom prst="line">
            <a:avLst/>
          </a:prstGeom>
          <a:ln w="12700">
            <a:solidFill>
              <a:srgbClr val="1C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395728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95728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9572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0.941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95728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95728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9572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0.146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2779776"/>
            <a:ext cx="59436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2779776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79776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77977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0.940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79776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779776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7977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0.146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3163824"/>
            <a:ext cx="59436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3163824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163824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16382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0.938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163824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0.776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163824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16382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0.145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547872"/>
            <a:ext cx="59436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3547872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547872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547872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0.967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547872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0.750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3547872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547872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0.144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" y="3931920"/>
            <a:ext cx="594360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" y="393192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393192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0.815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93192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0.965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31920"/>
            <a:ext cx="914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0.705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931920"/>
            <a:ext cx="11887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393192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0.143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4315968"/>
            <a:ext cx="5943600" cy="0"/>
          </a:xfrm>
          <a:prstGeom prst="line">
            <a:avLst/>
          </a:prstGeom>
          <a:ln w="1270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40880" y="15544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C1E"/>
                </a:solidFill>
                <a:latin typeface="Calibri"/>
              </a:rPr>
              <a:t>Contact-aware planning, per seed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011680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Calibri"/>
              </a:rPr>
              <a:t>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011680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seed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011680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seed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011680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seed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2011680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6E6E73"/>
                </a:solidFill>
                <a:latin typeface="Calibri"/>
              </a:rPr>
              <a:t>mean ± std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040880" y="2395728"/>
            <a:ext cx="4846320" cy="0"/>
          </a:xfrm>
          <a:prstGeom prst="line">
            <a:avLst/>
          </a:prstGeom>
          <a:ln w="12700">
            <a:solidFill>
              <a:srgbClr val="1C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40880" y="239572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B9E77"/>
                </a:solidFill>
                <a:latin typeface="Calibri"/>
              </a:rPr>
              <a:t>sparse success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239572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239572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239572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2395728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0.23 ± 0.06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40880" y="2779776"/>
            <a:ext cx="484632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40880" y="2779776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D95F02"/>
                </a:solidFill>
                <a:latin typeface="Calibri"/>
              </a:rPr>
              <a:t>dense success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77977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277977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277977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2779776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0.00 ± 0.00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040880" y="3163824"/>
            <a:ext cx="4846320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040880" y="3163824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1C1C1E"/>
                </a:solidFill>
                <a:latin typeface="Calibri"/>
              </a:rPr>
              <a:t>sparse final dist.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5360" y="3163824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3163824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0.231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3163824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0.193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3163824"/>
            <a:ext cx="1097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0" i="0">
                <a:solidFill>
                  <a:srgbClr val="1C1C1E"/>
                </a:solidFill>
                <a:latin typeface="Calibri"/>
              </a:rPr>
              <a:t>0.204 ± 0.019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040880" y="3547872"/>
            <a:ext cx="4846320" cy="0"/>
          </a:xfrm>
          <a:prstGeom prst="line">
            <a:avLst/>
          </a:prstGeom>
          <a:ln w="1270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Calibri"/>
              </a:rPr>
              <a:t>Parameter-matched dense (Appendix E): 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shrinking dense to the sparse budget gives L2 0.363 / 0.363 / 0.415 and F1 0.538 / 0.388 / 0.294 at N = 3 / 5 / 8. Sparse still wins on every metric at every count, so the degeneracy is not a capacity artifact.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