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Sparse (ours)</c:v>
                </c:pt>
              </c:strCache>
            </c:strRef>
          </c:tx>
          <c:spPr>
            <a:solidFill>
              <a:srgbClr val="1B9E7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0.373</c:v>
                </c:pt>
                <c:pt idx="1">
                  <c:v>0.293</c:v>
                </c:pt>
                <c:pt idx="2">
                  <c:v>0.182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 MLP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1.241</c:v>
                </c:pt>
                <c:pt idx="1">
                  <c:v>1.097</c:v>
                </c:pt>
                <c:pt idx="2">
                  <c:v>1.17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4"/>
          <c:min val="0.0"/>
        </c:scaling>
        <c:delete val="0"/>
        <c:axPos val="l"/>
        <c:majorGridlines>
          <c:spPr>
            <a:ln w="6350">
              <a:solidFill>
                <a:srgbClr val="D9D9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[~10 s] Hi, I'm Param. Our paper is about one simple idea for world models of manipulation</a:t>
            </a:r>
          </a:p>
          <a:p>
            <a:r>
              <a:t>scenes: model what changes, and copy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[~25 s] When a robot nudges one block, one pose changes and everything else stays put. Yet</a:t>
            </a:r>
          </a:p>
          <a:p>
            <a:r>
              <a:t>the standard recipe re-predicts every pose at every step, so it perturbs objects that never</a:t>
            </a:r>
          </a:p>
          <a:p>
            <a:r>
              <a:t>moved.</a:t>
            </a:r>
          </a:p>
          <a:p/>
          <a:p>
            <a:r>
              <a:t>Our model has a per-object gate that decides whether each object changes, and a delta head</a:t>
            </a:r>
          </a:p>
          <a:p>
            <a:r>
              <a:t>whose residual is applied only where the gate fires. Gate off: the object is copied exactly.</a:t>
            </a:r>
          </a:p>
          <a:p>
            <a:r>
              <a:t>The heads are shared, so one model runs at any object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[~15 s] Here it is running on a held-out push. Dashed outlines are the truth. The dense model,</a:t>
            </a:r>
          </a:p>
          <a:p>
            <a:r>
              <a:t>third panel, scatters every box, even the ones the pusher never touched. Ours moves the boxes</a:t>
            </a:r>
          </a:p>
          <a:p>
            <a:r>
              <a:t>that were pushed and leaves the green one exactly where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 s] Across all held-out rollouts, after 20 steps the dense model's error is three to six</a:t>
            </a:r>
          </a:p>
          <a:p>
            <a:r>
              <a:t>times higher than ours, with about a tenth of the parameters. The reason is the objects that</a:t>
            </a:r>
          </a:p>
          <a:p>
            <a:r>
              <a:t>did not move: their error drops from 0.21 to almost zero. And a model trained on one object</a:t>
            </a:r>
          </a:p>
          <a:p>
            <a:r>
              <a:t>count keeps 99 percent of its detection quality on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[~25 s] Now the honest part. The win is change detection: it avoids corrupting the static</a:t>
            </a:r>
          </a:p>
          <a:p>
            <a:r>
              <a:t>majority. It is not accurate dynamics on the movers. Even with a perfect gate, error on</a:t>
            </a:r>
          </a:p>
          <a:p>
            <a:r>
              <a:t>moving objects sits at the do-nothing baseline, and overall the model only matches no-op.</a:t>
            </a:r>
          </a:p>
          <a:p>
            <a:r>
              <a:t>So our advice: always report no-op, and split error into changed and unchanged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[~15 s] So: model what changes. Detection works; predicting the push itself is the next thing</a:t>
            </a:r>
          </a:p>
          <a:p>
            <a:r>
              <a:t>to fix, and the delta head is the lever. Code, checkpoints and a live</a:t>
            </a:r>
          </a:p>
          <a:p>
            <a:r>
              <a:t>in-browser demo are at the QR code. Come find us at the poster. Thank you!</a:t>
            </a:r>
          </a:p>
          <a:p/>
          <a:p>
            <a:r>
              <a:t>(Repository: https://github.com/ParamThakkar123/sparse_world_models)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9E77"/>
                </a:solidFill>
                <a:latin typeface="Calibri"/>
              </a:rPr>
              <a:t>WORLDS WORKSHOP  ·  IEEE/RSJ IROS 2026  · 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6949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Calibri"/>
              </a:rPr>
              <a:t>Modeling What Changes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6E6E73"/>
                </a:solidFill>
                <a:latin typeface="Calibri"/>
              </a:rPr>
              <a:t>Sparse, Residual World Models for Object-Centric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6949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Param Thakkar</a:t>
            </a:r>
            <a:r>
              <a:rPr sz="1700" b="0" i="0">
                <a:solidFill>
                  <a:srgbClr val="6E6E73"/>
                </a:solidFill>
                <a:latin typeface="Calibri"/>
              </a:rPr>
              <a:t>   Veermata Jijabai Technological Institute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Parsika Paresh Shah</a:t>
            </a:r>
            <a:r>
              <a:rPr sz="1700" b="0" i="0">
                <a:solidFill>
                  <a:srgbClr val="6E6E73"/>
                </a:solidFill>
                <a:latin typeface="Calibri"/>
              </a:rPr>
              <a:t>   Arizona State University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Manisha Sushant Gote</a:t>
            </a:r>
            <a:r>
              <a:rPr sz="1700" b="0" i="0">
                <a:solidFill>
                  <a:srgbClr val="6E6E73"/>
                </a:solidFill>
                <a:latin typeface="Calibri"/>
              </a:rPr>
              <a:t>   ZuiGO Private Limited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71600"/>
            <a:ext cx="3657600" cy="3657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531352" y="1847088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579608" y="1956816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823960" y="3895344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725912" y="3931920"/>
            <a:ext cx="420623" cy="420623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555480" y="3054095"/>
            <a:ext cx="420623" cy="420623"/>
          </a:xfrm>
          <a:prstGeom prst="rect">
            <a:avLst/>
          </a:prstGeom>
          <a:noFill/>
          <a:ln w="15875">
            <a:solidFill>
              <a:srgbClr val="6E6E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140695" y="2688336"/>
            <a:ext cx="420623" cy="420623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 flipV="1">
            <a:off x="10030968" y="3054095"/>
            <a:ext cx="109727" cy="128016"/>
          </a:xfrm>
          <a:prstGeom prst="line">
            <a:avLst/>
          </a:prstGeom>
          <a:ln w="25400">
            <a:solidFill>
              <a:srgbClr val="1B9E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043416" y="3456432"/>
            <a:ext cx="256031" cy="256031"/>
          </a:xfrm>
          <a:prstGeom prst="ellipse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9299448" y="3401568"/>
            <a:ext cx="219456" cy="164592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One push moves one object. So gate what changes, copy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6E6E73"/>
                </a:solidFill>
                <a:latin typeface="Calibri"/>
              </a:rPr>
              <a:t>Dense world models regress </a:t>
            </a:r>
            <a:r>
              <a:rPr sz="1900" b="0" i="1">
                <a:solidFill>
                  <a:srgbClr val="6E6E73"/>
                </a:solidFill>
                <a:latin typeface="Calibri"/>
              </a:rPr>
              <a:t>every</a:t>
            </a:r>
            <a:r>
              <a:rPr sz="1900" b="0" i="0">
                <a:solidFill>
                  <a:srgbClr val="6E6E73"/>
                </a:solidFill>
                <a:latin typeface="Calibri"/>
              </a:rPr>
              <a:t> pose, every step, and so inject error into objects that never moved.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2194560" cy="822960"/>
          </a:xfrm>
          <a:prstGeom prst="roundRect">
            <a:avLst>
              <a:gd name="adj" fmla="val 18000"/>
            </a:avLst>
          </a:prstGeom>
          <a:solidFill>
            <a:srgbClr val="F4F4F1"/>
          </a:solidFill>
          <a:ln w="15875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Calibri"/>
              </a:rPr>
              <a:t>per-object features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φᵢ(sₜ, aₜ)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40280"/>
            <a:ext cx="2377440" cy="822960"/>
          </a:xfrm>
          <a:prstGeom prst="roundRect">
            <a:avLst>
              <a:gd name="adj" fmla="val 18000"/>
            </a:avLst>
          </a:prstGeom>
          <a:solidFill>
            <a:srgbClr val="DDF1EA"/>
          </a:solidFill>
          <a:ln w="15875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B9E77"/>
                </a:solidFill>
                <a:latin typeface="Calibri"/>
              </a:rPr>
              <a:t>gate net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gᵢ ∈ {0, 1}  ·  straight-through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160520"/>
            <a:ext cx="237744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C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7600" y="416052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Calibri"/>
              </a:rPr>
              <a:t>delta head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Δᵢ ∈ ℝ³  ·  pose residual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33756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0" y="33375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1C1E"/>
                </a:solidFill>
                <a:latin typeface="Calibri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200400"/>
            <a:ext cx="3108960" cy="822960"/>
          </a:xfrm>
          <a:prstGeom prst="roundRect">
            <a:avLst>
              <a:gd name="adj" fmla="val 18000"/>
            </a:avLst>
          </a:prstGeom>
          <a:solidFill>
            <a:srgbClr val="DDF1EA"/>
          </a:solidFill>
          <a:ln w="15875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Calibri"/>
              </a:rPr>
              <a:t>p̂ᵢᵗ⁺¹ = pᵢᵗ + gᵢ · Δᵢ</a:t>
            </a:r>
          </a:p>
          <a:p>
            <a:pPr algn="ctr"/>
            <a:r>
              <a:rPr sz="1300" b="0" i="0">
                <a:solidFill>
                  <a:srgbClr val="6E6E73"/>
                </a:solidFill>
                <a:latin typeface="Calibri"/>
              </a:rPr>
              <a:t>masked residual added to current pose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26080" y="2651760"/>
            <a:ext cx="731520" cy="86868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26080" y="3703320"/>
            <a:ext cx="731520" cy="86868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35040" y="2651760"/>
            <a:ext cx="1143000" cy="77724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35040" y="3794760"/>
            <a:ext cx="1143000" cy="77724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611880"/>
            <a:ext cx="822960" cy="0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shared weights, applied to every 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690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9E77"/>
                </a:solidFill>
                <a:latin typeface="Calibri"/>
              </a:rPr>
              <a:t>gate off  ⇒  object copied verbatim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Hard gate at inference: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un-gated objects get exactly zero update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1C1C1E"/>
                </a:solidFill>
                <a:latin typeface="Calibri"/>
              </a:rPr>
              <a:t>Shared per-object heads, nothing sized to N: </a:t>
            </a:r>
            <a:r>
              <a:rPr sz="1600" b="0" i="0">
                <a:solidFill>
                  <a:srgbClr val="1C1C1E"/>
                </a:solidFill>
                <a:latin typeface="Calibri"/>
              </a:rPr>
              <a:t>train on 3 objects, run on 8 with no retraining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SEE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Dense moves everything. Sparse moves only what was pushed.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3</a:t>
            </a:r>
          </a:p>
        </p:txBody>
      </p:sp>
      <p:pic>
        <p:nvPicPr>
          <p:cNvPr id="6" name="rollout_3obj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554480"/>
            <a:ext cx="10911535" cy="3273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108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Held-out 3-object push, 20-step closed-loop rollout, half speed. Dashed outlines are the ground truth, so the gap is the error. Final error: sparse 0.26, dense 1.34, no-op 0.35.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E6E73"/>
                </a:solidFill>
                <a:latin typeface="Calibri"/>
              </a:rPr>
              <a:t>Window picked by a fixed rule (median sparse error among active pushes), not by hand. Averaged over all rollouts, no-op is still lower overall (Table III).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Far less drift than dense, at a tenth of the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Per-object pose L2 after a 20-step closed-loop rollout on held-out trajectories, lower is better (Table III, mean of 3 seeds). No-op, which predicts no motion, is lower still: 0.277 / 0.180 / 0.108.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2.5 – 4.6×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6771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lower one-step error than dense, with 8.6–11.1× fewer parameters (Table 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9718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B9E77"/>
                </a:solidFill>
                <a:latin typeface="Calibri"/>
              </a:rPr>
              <a:t>0.211 → 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68503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error on objects that did not move, dense → sparse (3 objects)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3891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9E77"/>
                </a:solidFill>
                <a:latin typeface="Calibri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10235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of change-detection F1 kept on an unseen object count, no retraining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READING IT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What the headline is, and what it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9E77"/>
                </a:solidFill>
                <a:latin typeface="Calibri"/>
              </a:rPr>
              <a:t>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709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100" b="1" i="0">
                <a:solidFill>
                  <a:srgbClr val="1C1C1E"/>
                </a:solidFill>
                <a:latin typeface="Calibri"/>
              </a:rPr>
              <a:t>A change detector </a:t>
            </a:r>
            <a:r>
              <a:rPr sz="2100" b="0" i="0">
                <a:solidFill>
                  <a:srgbClr val="1C1C1E"/>
                </a:solidFill>
                <a:latin typeface="Calibri"/>
              </a:rPr>
              <a:t>(F1 0.80–0.87) that stops error injection into the static majority</a:t>
            </a:r>
          </a:p>
          <a:p>
            <a:pPr algn="l">
              <a:spcAft>
                <a:spcPts val="1800"/>
              </a:spcAft>
            </a:pPr>
            <a:r>
              <a:rPr sz="21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100" b="1" i="0">
                <a:solidFill>
                  <a:srgbClr val="1C1C1E"/>
                </a:solidFill>
                <a:latin typeface="Calibri"/>
              </a:rPr>
              <a:t>Clearly better than dense </a:t>
            </a:r>
            <a:r>
              <a:rPr sz="2100" b="0" i="0">
                <a:solidFill>
                  <a:srgbClr val="1C1C1E"/>
                </a:solidFill>
                <a:latin typeface="Calibri"/>
              </a:rPr>
              <a:t>one-step, in rollout, and in planning (0.23 vs 0.00 success)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5F02"/>
                </a:solidFill>
                <a:latin typeface="Calibri"/>
              </a:rPr>
              <a:t>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709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100" b="1" i="0">
                <a:solidFill>
                  <a:srgbClr val="1C1C1E"/>
                </a:solidFill>
                <a:latin typeface="Calibri"/>
              </a:rPr>
              <a:t>An accurate predictor of the movers: </a:t>
            </a:r>
            <a:r>
              <a:rPr sz="2100" b="0" i="0">
                <a:solidFill>
                  <a:srgbClr val="1C1C1E"/>
                </a:solidFill>
                <a:latin typeface="Calibri"/>
              </a:rPr>
              <a:t>an oracle gate barely helps; they sit at no-op quality</a:t>
            </a:r>
          </a:p>
          <a:p>
            <a:pPr algn="l">
              <a:spcAft>
                <a:spcPts val="1800"/>
              </a:spcAft>
            </a:pPr>
            <a:r>
              <a:rPr sz="21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100" b="1" i="0">
                <a:solidFill>
                  <a:srgbClr val="1C1C1E"/>
                </a:solidFill>
                <a:latin typeface="Calibri"/>
              </a:rPr>
              <a:t>Better than predicting no motion, overall: </a:t>
            </a:r>
            <a:r>
              <a:rPr sz="2100" b="0" i="0">
                <a:solidFill>
                  <a:srgbClr val="1C1C1E"/>
                </a:solidFill>
                <a:latin typeface="Calibri"/>
              </a:rPr>
              <a:t>it only matches it. Planning is not clearly beyond random either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C1C1E"/>
                </a:solidFill>
                <a:latin typeface="Calibri"/>
              </a:rPr>
              <a:t>Lesson: </a:t>
            </a:r>
            <a:r>
              <a:rPr sz="1900" b="0" i="0">
                <a:solidFill>
                  <a:srgbClr val="1C1C1E"/>
                </a:solidFill>
                <a:latin typeface="Calibri"/>
              </a:rPr>
              <a:t>always report the no-op baseline, and split error into changed vs. unchanged objects.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9E77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Model what changes. The delta head is the lever.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Modeling What Changes  ·  WORLDS Workshop @ IEEE/RSJ IROS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749807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000" b="1" i="0">
                <a:solidFill>
                  <a:srgbClr val="1C1C1E"/>
                </a:solidFill>
                <a:latin typeface="Calibri"/>
              </a:rPr>
              <a:t>A per-object gate plus a masked residual </a:t>
            </a:r>
            <a:r>
              <a:rPr sz="2000" b="0" i="0">
                <a:solidFill>
                  <a:srgbClr val="1C1C1E"/>
                </a:solidFill>
                <a:latin typeface="Calibri"/>
              </a:rPr>
              <a:t>is a one-line bias that stops a world model corrupting the static scene</a:t>
            </a:r>
          </a:p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000" b="1" i="0">
                <a:solidFill>
                  <a:srgbClr val="1C1C1E"/>
                </a:solidFill>
                <a:latin typeface="Calibri"/>
              </a:rPr>
              <a:t>Detection works; </a:t>
            </a:r>
            <a:r>
              <a:rPr sz="2000" b="0" i="0">
                <a:solidFill>
                  <a:srgbClr val="1C1C1E"/>
                </a:solidFill>
                <a:latin typeface="Calibri"/>
              </a:rPr>
              <a:t>regressing contact deltas does not yet. That is the next thing to fix</a:t>
            </a:r>
          </a:p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2000" b="1" i="0">
                <a:solidFill>
                  <a:srgbClr val="1C1C1E"/>
                </a:solidFill>
                <a:latin typeface="Calibri"/>
              </a:rPr>
              <a:t>Everything is open: </a:t>
            </a:r>
            <a:r>
              <a:rPr sz="2000" b="0" i="0">
                <a:solidFill>
                  <a:srgbClr val="1C1C1E"/>
                </a:solidFill>
                <a:latin typeface="Calibri"/>
              </a:rPr>
              <a:t>code, data generators, checkpoints, and a live in-browser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83480"/>
            <a:ext cx="7498079" cy="1005840"/>
          </a:xfrm>
          <a:prstGeom prst="roundRect">
            <a:avLst>
              <a:gd name="adj" fmla="val 12000"/>
            </a:avLst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B9E77"/>
                </a:solidFill>
                <a:latin typeface="Calibri"/>
              </a:rPr>
              <a:t>Come find us at the poster.  Thank you!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645920"/>
            <a:ext cx="2971800" cy="434340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874519"/>
            <a:ext cx="214884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420624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C1C1E"/>
                </a:solidFill>
                <a:latin typeface="Calibri"/>
              </a:rPr>
              <a:t>Code + demo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github.com/ParamThakkar123/
sparse_world_models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